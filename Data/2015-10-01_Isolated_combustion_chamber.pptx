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ags/tag110.xml" ContentType="application/vnd.openxmlformats-officedocument.presentationml.tags+xml"/>
  <Override PartName="/ppt/tags/tag116.xml" ContentType="application/vnd.openxmlformats-officedocument.presentationml.tags+xml"/>
  <Override PartName="/ppt/tags/tag118.xml" ContentType="application/vnd.openxmlformats-officedocument.presentationml.tags+xml"/>
  <Override PartName="/ppt/tags/tag1.xml" ContentType="application/vnd.openxmlformats-officedocument.presentationml.tags+xml"/>
  <Override PartName="/ppt/tags/tag119.xml" ContentType="application/vnd.openxmlformats-officedocument.presentationml.tags+xml"/>
  <Override PartName="/ppt/tags/tag117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09.xml" ContentType="application/vnd.openxmlformats-officedocument.presentationml.tags+xml"/>
  <Override PartName="/ppt/tags/tag108.xml" ContentType="application/vnd.openxmlformats-officedocument.presentationml.tags+xml"/>
  <Override PartName="/ppt/tags/tag115.xml" ContentType="application/vnd.openxmlformats-officedocument.presentationml.tags+xml"/>
  <Override PartName="/ppt/tags/tag105.xml" ContentType="application/vnd.openxmlformats-officedocument.presentationml.tags+xml"/>
  <Override PartName="/ppt/tags/tag121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32.xml" ContentType="application/vnd.openxmlformats-officedocument.presentationml.tags+xml"/>
  <Override PartName="/ppt/tags/tag131.xml" ContentType="application/vnd.openxmlformats-officedocument.presentationml.tags+xml"/>
  <Override PartName="/ppt/tags/tag130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20.xml" ContentType="application/vnd.openxmlformats-officedocument.presentationml.tags+xml"/>
  <Override PartName="/ppt/tags/tag85.xml" ContentType="application/vnd.openxmlformats-officedocument.presentationml.tags+xml"/>
  <Override PartName="/ppt/tags/tag10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3.xml" ContentType="application/vnd.openxmlformats-officedocument.presentationml.tags+xml"/>
  <Override PartName="/ppt/tags/tag32.xml" ContentType="application/vnd.openxmlformats-officedocument.presentationml.tags+xml"/>
  <Override PartName="/ppt/tags/tag31.xml" ContentType="application/vnd.openxmlformats-officedocument.presentationml.tags+xml"/>
  <Override PartName="/ppt/tags/tag30.xml" ContentType="application/vnd.openxmlformats-officedocument.presentationml.tags+xml"/>
  <Override PartName="/ppt/tags/tag29.xml" ContentType="application/vnd.openxmlformats-officedocument.presentationml.tags+xml"/>
  <Override PartName="/ppt/tags/tag28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46.xml" ContentType="application/vnd.openxmlformats-officedocument.presentationml.tags+xml"/>
  <Override PartName="/ppt/tags/tag45.xml" ContentType="application/vnd.openxmlformats-officedocument.presentationml.tags+xml"/>
  <Override PartName="/ppt/tags/tag44.xml" ContentType="application/vnd.openxmlformats-officedocument.presentationml.tags+xml"/>
  <Override PartName="/ppt/tags/tag43.xml" ContentType="application/vnd.openxmlformats-officedocument.presentationml.tags+xml"/>
  <Override PartName="/ppt/tags/tag42.xml" ContentType="application/vnd.openxmlformats-officedocument.presentationml.tags+xml"/>
  <Override PartName="/ppt/tags/tag41.xml" ContentType="application/vnd.openxmlformats-officedocument.presentationml.tags+xml"/>
  <Override PartName="/ppt/tags/tag27.xml" ContentType="application/vnd.openxmlformats-officedocument.presentationml.tags+xml"/>
  <Override PartName="/ppt/tags/tag26.xml" ContentType="application/vnd.openxmlformats-officedocument.presentationml.tags+xml"/>
  <Override PartName="/ppt/tags/tag2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7.xml" ContentType="application/vnd.openxmlformats-officedocument.presentationml.tags+xml"/>
  <Override PartName="/ppt/tags/tag6.xml" ContentType="application/vnd.openxmlformats-officedocument.presentationml.tags+xml"/>
  <Override PartName="/ppt/tags/tag5.xml" ContentType="application/vnd.openxmlformats-officedocument.presentationml.tags+xml"/>
  <Override PartName="/ppt/tags/tag4.xml" ContentType="application/vnd.openxmlformats-officedocument.presentationml.tags+xml"/>
  <Override PartName="/ppt/tags/tag3.xml" ContentType="application/vnd.openxmlformats-officedocument.presentationml.tags+xml"/>
  <Override PartName="/ppt/tags/tag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0.xml" ContentType="application/vnd.openxmlformats-officedocument.presentationml.tags+xml"/>
  <Override PartName="/ppt/tags/tag19.xml" ContentType="application/vnd.openxmlformats-officedocument.presentationml.tags+xml"/>
  <Override PartName="/ppt/tags/tag18.xml" ContentType="application/vnd.openxmlformats-officedocument.presentationml.tags+xml"/>
  <Override PartName="/ppt/tags/tag17.xml" ContentType="application/vnd.openxmlformats-officedocument.presentationml.tags+xml"/>
  <Override PartName="/ppt/tags/tag16.xml" ContentType="application/vnd.openxmlformats-officedocument.presentationml.tags+xml"/>
  <Override PartName="/ppt/tags/tag15.xml" ContentType="application/vnd.openxmlformats-officedocument.presentationml.tags+xml"/>
  <Override PartName="/ppt/tags/tag104.xml" ContentType="application/vnd.openxmlformats-officedocument.presentationml.tags+xml"/>
  <Override PartName="/ppt/tags/tag51.xml" ContentType="application/vnd.openxmlformats-officedocument.presentationml.tags+xml"/>
  <Override PartName="/ppt/tags/tag53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84.xml" ContentType="application/vnd.openxmlformats-officedocument.presentationml.tags+xml"/>
  <Override PartName="/ppt/tags/tag83.xml" ContentType="application/vnd.openxmlformats-officedocument.presentationml.tags+xml"/>
  <Override PartName="/ppt/tags/tag82.xml" ContentType="application/vnd.openxmlformats-officedocument.presentationml.tags+xml"/>
  <Override PartName="/ppt/tags/tag81.xml" ContentType="application/vnd.openxmlformats-officedocument.presentationml.tags+xml"/>
  <Override PartName="/ppt/tags/tag80.xml" ContentType="application/vnd.openxmlformats-officedocument.presentationml.tags+xml"/>
  <Override PartName="/ppt/tags/tag7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98.xml" ContentType="application/vnd.openxmlformats-officedocument.presentationml.tags+xml"/>
  <Override PartName="/ppt/tags/tag97.xml" ContentType="application/vnd.openxmlformats-officedocument.presentationml.tags+xml"/>
  <Override PartName="/ppt/tags/tag96.xml" ContentType="application/vnd.openxmlformats-officedocument.presentationml.tags+xml"/>
  <Override PartName="/ppt/tags/tag95.xml" ContentType="application/vnd.openxmlformats-officedocument.presentationml.tags+xml"/>
  <Override PartName="/ppt/tags/tag94.xml" ContentType="application/vnd.openxmlformats-officedocument.presentationml.tags+xml"/>
  <Override PartName="/ppt/tags/tag93.xml" ContentType="application/vnd.openxmlformats-officedocument.presentationml.tags+xml"/>
  <Override PartName="/ppt/tags/tag78.xml" ContentType="application/vnd.openxmlformats-officedocument.presentationml.tags+xml"/>
  <Override PartName="/ppt/tags/tag77.xml" ContentType="application/vnd.openxmlformats-officedocument.presentationml.tags+xml"/>
  <Override PartName="/ppt/tags/tag7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59.xml" ContentType="application/vnd.openxmlformats-officedocument.presentationml.tags+xml"/>
  <Override PartName="/ppt/tags/tag58.xml" ContentType="application/vnd.openxmlformats-officedocument.presentationml.tags+xml"/>
  <Override PartName="/ppt/tags/tag57.xml" ContentType="application/vnd.openxmlformats-officedocument.presentationml.tags+xml"/>
  <Override PartName="/ppt/tags/tag56.xml" ContentType="application/vnd.openxmlformats-officedocument.presentationml.tags+xml"/>
  <Override PartName="/ppt/tags/tag55.xml" ContentType="application/vnd.openxmlformats-officedocument.presentationml.tags+xml"/>
  <Override PartName="/ppt/tags/tag54.xml" ContentType="application/vnd.openxmlformats-officedocument.presentationml.tags+xml"/>
  <Override PartName="/ppt/tags/tag52.xml" ContentType="application/vnd.openxmlformats-officedocument.presentationml.tags+xml"/>
  <Override PartName="/ppt/tags/tag64.xml" ContentType="application/vnd.openxmlformats-officedocument.presentationml.tags+xml"/>
  <Override PartName="/ppt/tags/tag66.xml" ContentType="application/vnd.openxmlformats-officedocument.presentationml.tags+xml"/>
  <Override PartName="/ppt/tags/tag75.xml" ContentType="application/vnd.openxmlformats-officedocument.presentationml.tags+xml"/>
  <Override PartName="/ppt/tags/tag74.xml" ContentType="application/vnd.openxmlformats-officedocument.presentationml.tags+xml"/>
  <Override PartName="/ppt/tags/tag73.xml" ContentType="application/vnd.openxmlformats-officedocument.presentationml.tags+xml"/>
  <Override PartName="/ppt/tags/tag72.xml" ContentType="application/vnd.openxmlformats-officedocument.presentationml.tags+xml"/>
  <Override PartName="/ppt/tags/tag71.xml" ContentType="application/vnd.openxmlformats-officedocument.presentationml.tags+xml"/>
  <Override PartName="/ppt/tags/tag70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65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63" r:id="rId2"/>
    <p:sldId id="505" r:id="rId3"/>
    <p:sldId id="571" r:id="rId4"/>
    <p:sldId id="587" r:id="rId5"/>
    <p:sldId id="594" r:id="rId6"/>
    <p:sldId id="593" r:id="rId7"/>
    <p:sldId id="595" r:id="rId8"/>
    <p:sldId id="588" r:id="rId9"/>
    <p:sldId id="586" r:id="rId10"/>
    <p:sldId id="596" r:id="rId11"/>
    <p:sldId id="597" r:id="rId12"/>
    <p:sldId id="598" r:id="rId13"/>
  </p:sldIdLst>
  <p:sldSz cx="10287000" cy="6858000" type="35mm"/>
  <p:notesSz cx="6867525" cy="9994900"/>
  <p:custDataLst>
    <p:tags r:id="rId1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FFFFFF"/>
    <a:srgbClr val="339966"/>
    <a:srgbClr val="00CC99"/>
    <a:srgbClr val="008080"/>
    <a:srgbClr val="777777"/>
    <a:srgbClr val="4D4D4D"/>
    <a:srgbClr val="66FFFF"/>
    <a:srgbClr val="00CCFF"/>
    <a:srgbClr val="FBE1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9770" autoAdjust="0"/>
    <p:restoredTop sz="94629" autoAdjust="0"/>
  </p:normalViewPr>
  <p:slideViewPr>
    <p:cSldViewPr>
      <p:cViewPr>
        <p:scale>
          <a:sx n="70" d="100"/>
          <a:sy n="70" d="100"/>
        </p:scale>
        <p:origin x="-1368" y="-90"/>
      </p:cViewPr>
      <p:guideLst>
        <p:guide orient="horz" pos="709"/>
        <p:guide orient="horz" pos="935"/>
        <p:guide orient="horz" pos="255"/>
        <p:guide orient="horz" pos="73"/>
        <p:guide orient="horz" pos="2432"/>
        <p:guide orient="horz" pos="3929"/>
        <p:guide orient="horz" pos="1162"/>
        <p:guide pos="292"/>
        <p:guide pos="5962"/>
        <p:guide pos="6188"/>
        <p:guide pos="3104"/>
      </p:guideLst>
    </p:cSldViewPr>
  </p:slideViewPr>
  <p:outlineViewPr>
    <p:cViewPr>
      <p:scale>
        <a:sx n="33" d="100"/>
        <a:sy n="33" d="100"/>
      </p:scale>
      <p:origin x="0" y="73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4" d="100"/>
          <a:sy n="54" d="100"/>
        </p:scale>
        <p:origin x="-2832" y="-90"/>
      </p:cViewPr>
      <p:guideLst>
        <p:guide orient="horz" pos="3148"/>
        <p:guide pos="21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0008" y="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r">
              <a:defRPr sz="1300"/>
            </a:lvl1pPr>
          </a:lstStyle>
          <a:p>
            <a:fld id="{BCEDB2E8-888D-4118-93F8-44C141FC7791}" type="datetimeFigureOut">
              <a:rPr lang="en-US" smtClean="0"/>
              <a:t>10/23/2015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9342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0008" y="949342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r">
              <a:defRPr sz="1300"/>
            </a:lvl1pPr>
          </a:lstStyle>
          <a:p>
            <a:fld id="{9CDAD659-051B-4E91-98C1-0B8863C764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311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90008" y="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r">
              <a:defRPr sz="1300"/>
            </a:lvl1pPr>
          </a:lstStyle>
          <a:p>
            <a:fld id="{73FA5A64-B669-4AA9-A75C-DE513BCFAAFE}" type="datetimeFigureOut">
              <a:rPr lang="en-US" smtClean="0"/>
              <a:t>10/23/2015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23888" y="749300"/>
            <a:ext cx="5619750" cy="3748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0" tIns="48175" rIns="96350" bIns="48175" rtlCol="0" anchor="ctr"/>
          <a:lstStyle/>
          <a:p>
            <a:endParaRPr lang="en-GB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6753" y="4747578"/>
            <a:ext cx="5494020" cy="4497705"/>
          </a:xfrm>
          <a:prstGeom prst="rect">
            <a:avLst/>
          </a:prstGeom>
        </p:spPr>
        <p:txBody>
          <a:bodyPr vert="horz" lIns="96350" tIns="48175" rIns="96350" bIns="48175" rtlCol="0"/>
          <a:lstStyle/>
          <a:p>
            <a:pPr lvl="0"/>
            <a:r>
              <a:rPr lang="en-US" smtClean="0"/>
              <a:t>Textmasterformat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9342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90008" y="949342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r">
              <a:defRPr sz="1300"/>
            </a:lvl1pPr>
          </a:lstStyle>
          <a:p>
            <a:fld id="{1B1303DF-3EC5-4846-8CDB-FDE64BE225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47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303DF-3EC5-4846-8CDB-FDE64BE2257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626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image" Target="../media/image3.emf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2.emf"/><Relationship Id="rId2" Type="http://schemas.openxmlformats.org/officeDocument/2006/relationships/tags" Target="../tags/tag8.xml"/><Relationship Id="rId1" Type="http://schemas.openxmlformats.org/officeDocument/2006/relationships/vmlDrawing" Target="../drawings/vmlDrawing2.vml"/><Relationship Id="rId6" Type="http://schemas.openxmlformats.org/officeDocument/2006/relationships/tags" Target="../tags/tag12.xml"/><Relationship Id="rId11" Type="http://schemas.openxmlformats.org/officeDocument/2006/relationships/oleObject" Target="../embeddings/oleObject2.bin"/><Relationship Id="rId5" Type="http://schemas.openxmlformats.org/officeDocument/2006/relationships/tags" Target="../tags/tag1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image" Target="../media/image3.emf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1.emf"/><Relationship Id="rId2" Type="http://schemas.openxmlformats.org/officeDocument/2006/relationships/tags" Target="../tags/tag16.xml"/><Relationship Id="rId1" Type="http://schemas.openxmlformats.org/officeDocument/2006/relationships/vmlDrawing" Target="../drawings/vmlDrawing3.vml"/><Relationship Id="rId6" Type="http://schemas.openxmlformats.org/officeDocument/2006/relationships/tags" Target="../tags/tag20.xml"/><Relationship Id="rId11" Type="http://schemas.openxmlformats.org/officeDocument/2006/relationships/oleObject" Target="../embeddings/oleObject3.bin"/><Relationship Id="rId5" Type="http://schemas.openxmlformats.org/officeDocument/2006/relationships/tags" Target="../tags/tag1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3.emf"/><Relationship Id="rId2" Type="http://schemas.openxmlformats.org/officeDocument/2006/relationships/tags" Target="../tags/tag24.xml"/><Relationship Id="rId1" Type="http://schemas.openxmlformats.org/officeDocument/2006/relationships/vmlDrawing" Target="../drawings/vmlDrawing4.vml"/><Relationship Id="rId6" Type="http://schemas.openxmlformats.org/officeDocument/2006/relationships/tags" Target="../tags/tag28.xml"/><Relationship Id="rId11" Type="http://schemas.openxmlformats.org/officeDocument/2006/relationships/image" Target="../media/image1.emf"/><Relationship Id="rId5" Type="http://schemas.openxmlformats.org/officeDocument/2006/relationships/tags" Target="../tags/tag27.xml"/><Relationship Id="rId10" Type="http://schemas.openxmlformats.org/officeDocument/2006/relationships/oleObject" Target="../embeddings/oleObject4.bin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image" Target="../media/image3.emf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1.emf"/><Relationship Id="rId2" Type="http://schemas.openxmlformats.org/officeDocument/2006/relationships/tags" Target="../tags/tag31.xml"/><Relationship Id="rId1" Type="http://schemas.openxmlformats.org/officeDocument/2006/relationships/vmlDrawing" Target="../drawings/vmlDrawing5.vml"/><Relationship Id="rId6" Type="http://schemas.openxmlformats.org/officeDocument/2006/relationships/tags" Target="../tags/tag35.xml"/><Relationship Id="rId11" Type="http://schemas.openxmlformats.org/officeDocument/2006/relationships/oleObject" Target="../embeddings/oleObject5.bin"/><Relationship Id="rId5" Type="http://schemas.openxmlformats.org/officeDocument/2006/relationships/tags" Target="../tags/tag3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image" Target="../media/image3.emf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image" Target="../media/image1.emf"/><Relationship Id="rId2" Type="http://schemas.openxmlformats.org/officeDocument/2006/relationships/tags" Target="../tags/tag39.xml"/><Relationship Id="rId1" Type="http://schemas.openxmlformats.org/officeDocument/2006/relationships/vmlDrawing" Target="../drawings/vmlDrawing6.vml"/><Relationship Id="rId6" Type="http://schemas.openxmlformats.org/officeDocument/2006/relationships/tags" Target="../tags/tag43.xml"/><Relationship Id="rId11" Type="http://schemas.openxmlformats.org/officeDocument/2006/relationships/oleObject" Target="../embeddings/oleObject6.bin"/><Relationship Id="rId5" Type="http://schemas.openxmlformats.org/officeDocument/2006/relationships/tags" Target="../tags/tag4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1.xml"/><Relationship Id="rId9" Type="http://schemas.openxmlformats.org/officeDocument/2006/relationships/tags" Target="../tags/tag46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image" Target="../media/image1.emf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oleObject" Target="../embeddings/oleObject7.bin"/><Relationship Id="rId2" Type="http://schemas.openxmlformats.org/officeDocument/2006/relationships/tags" Target="../tags/tag47.xml"/><Relationship Id="rId1" Type="http://schemas.openxmlformats.org/officeDocument/2006/relationships/vmlDrawing" Target="../drawings/vmlDrawing7.vml"/><Relationship Id="rId6" Type="http://schemas.openxmlformats.org/officeDocument/2006/relationships/tags" Target="../tags/tag51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image" Target="../media/image3.emf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1.emf"/><Relationship Id="rId2" Type="http://schemas.openxmlformats.org/officeDocument/2006/relationships/tags" Target="../tags/tag56.xml"/><Relationship Id="rId1" Type="http://schemas.openxmlformats.org/officeDocument/2006/relationships/vmlDrawing" Target="../drawings/vmlDrawing8.vml"/><Relationship Id="rId6" Type="http://schemas.openxmlformats.org/officeDocument/2006/relationships/tags" Target="../tags/tag60.xml"/><Relationship Id="rId11" Type="http://schemas.openxmlformats.org/officeDocument/2006/relationships/oleObject" Target="../embeddings/oleObject8.bin"/><Relationship Id="rId5" Type="http://schemas.openxmlformats.org/officeDocument/2006/relationships/tags" Target="../tags/tag5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8.xml"/><Relationship Id="rId9" Type="http://schemas.openxmlformats.org/officeDocument/2006/relationships/tags" Target="../tags/tag63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image" Target="../media/image1.emf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oleObject" Target="../embeddings/oleObject9.bin"/><Relationship Id="rId2" Type="http://schemas.openxmlformats.org/officeDocument/2006/relationships/tags" Target="../tags/tag64.xml"/><Relationship Id="rId1" Type="http://schemas.openxmlformats.org/officeDocument/2006/relationships/vmlDrawing" Target="../drawings/vmlDrawing9.vml"/><Relationship Id="rId6" Type="http://schemas.openxmlformats.org/officeDocument/2006/relationships/tags" Target="../tags/tag68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6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2" Type="http://schemas.openxmlformats.org/officeDocument/2006/relationships/tags" Target="../tags/tag73.xml"/><Relationship Id="rId16" Type="http://schemas.openxmlformats.org/officeDocument/2006/relationships/image" Target="../media/image3.emf"/><Relationship Id="rId1" Type="http://schemas.openxmlformats.org/officeDocument/2006/relationships/vmlDrawing" Target="../drawings/vmlDrawing10.v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5" Type="http://schemas.openxmlformats.org/officeDocument/2006/relationships/tags" Target="../tags/tag76.xml"/><Relationship Id="rId15" Type="http://schemas.openxmlformats.org/officeDocument/2006/relationships/image" Target="../media/image1.emf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oleObject" Target="../embeddings/oleObject10.bin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image" Target="../media/image1.emf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oleObject" Target="../embeddings/oleObject11.bin"/><Relationship Id="rId2" Type="http://schemas.openxmlformats.org/officeDocument/2006/relationships/tags" Target="../tags/tag84.xml"/><Relationship Id="rId1" Type="http://schemas.openxmlformats.org/officeDocument/2006/relationships/vmlDrawing" Target="../drawings/vmlDrawing11.vml"/><Relationship Id="rId6" Type="http://schemas.openxmlformats.org/officeDocument/2006/relationships/tags" Target="../tags/tag88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87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image" Target="../media/image1.emf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93.xml"/><Relationship Id="rId1" Type="http://schemas.openxmlformats.org/officeDocument/2006/relationships/vmlDrawing" Target="../drawings/vmlDrawing12.vml"/><Relationship Id="rId6" Type="http://schemas.openxmlformats.org/officeDocument/2006/relationships/tags" Target="../tags/tag97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13" Type="http://schemas.openxmlformats.org/officeDocument/2006/relationships/image" Target="../media/image3.emf"/><Relationship Id="rId3" Type="http://schemas.openxmlformats.org/officeDocument/2006/relationships/tags" Target="../tags/tag103.xml"/><Relationship Id="rId7" Type="http://schemas.openxmlformats.org/officeDocument/2006/relationships/tags" Target="../tags/tag107.xml"/><Relationship Id="rId12" Type="http://schemas.openxmlformats.org/officeDocument/2006/relationships/image" Target="../media/image1.emf"/><Relationship Id="rId2" Type="http://schemas.openxmlformats.org/officeDocument/2006/relationships/tags" Target="../tags/tag102.xml"/><Relationship Id="rId1" Type="http://schemas.openxmlformats.org/officeDocument/2006/relationships/vmlDrawing" Target="../drawings/vmlDrawing13.vml"/><Relationship Id="rId6" Type="http://schemas.openxmlformats.org/officeDocument/2006/relationships/tags" Target="../tags/tag106.xml"/><Relationship Id="rId11" Type="http://schemas.openxmlformats.org/officeDocument/2006/relationships/oleObject" Target="../embeddings/oleObject13.bin"/><Relationship Id="rId5" Type="http://schemas.openxmlformats.org/officeDocument/2006/relationships/tags" Target="../tags/tag10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04.xml"/><Relationship Id="rId9" Type="http://schemas.openxmlformats.org/officeDocument/2006/relationships/tags" Target="../tags/tag109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image" Target="../media/image1.emf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oleObject" Target="../embeddings/oleObject14.bin"/><Relationship Id="rId2" Type="http://schemas.openxmlformats.org/officeDocument/2006/relationships/tags" Target="../tags/tag110.xml"/><Relationship Id="rId1" Type="http://schemas.openxmlformats.org/officeDocument/2006/relationships/vmlDrawing" Target="../drawings/vmlDrawing14.vml"/><Relationship Id="rId6" Type="http://schemas.openxmlformats.org/officeDocument/2006/relationships/tags" Target="../tags/tag114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13.xml"/><Relationship Id="rId10" Type="http://schemas.openxmlformats.org/officeDocument/2006/relationships/tags" Target="../tags/tag118.xml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image" Target="../media/image3.emf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12" Type="http://schemas.openxmlformats.org/officeDocument/2006/relationships/image" Target="../media/image1.emf"/><Relationship Id="rId2" Type="http://schemas.openxmlformats.org/officeDocument/2006/relationships/tags" Target="../tags/tag119.xml"/><Relationship Id="rId1" Type="http://schemas.openxmlformats.org/officeDocument/2006/relationships/vmlDrawing" Target="../drawings/vmlDrawing15.vml"/><Relationship Id="rId6" Type="http://schemas.openxmlformats.org/officeDocument/2006/relationships/tags" Target="../tags/tag123.xml"/><Relationship Id="rId11" Type="http://schemas.openxmlformats.org/officeDocument/2006/relationships/oleObject" Target="../embeddings/oleObject15.bin"/><Relationship Id="rId5" Type="http://schemas.openxmlformats.org/officeDocument/2006/relationships/tags" Target="../tags/tag12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1.xml"/><Relationship Id="rId9" Type="http://schemas.openxmlformats.org/officeDocument/2006/relationships/tags" Target="../tags/tag12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kt 40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4051166"/>
              </p:ext>
            </p:extLst>
          </p:nvPr>
        </p:nvGraphicFramePr>
        <p:xfrm>
          <a:off x="0" y="1"/>
          <a:ext cx="178594" cy="15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4" name="think-cell Slide" r:id="rId11" imgW="465" imgH="464" progId="TCLayout.ActiveDocument.1">
                  <p:embed/>
                </p:oleObj>
              </mc:Choice>
              <mc:Fallback>
                <p:oleObj name="think-cell Slide" r:id="rId11" imgW="465" imgH="4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0" y="1"/>
                        <a:ext cx="178594" cy="158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platzhalter 17"/>
          <p:cNvSpPr>
            <a:spLocks noGrp="1"/>
          </p:cNvSpPr>
          <p:nvPr>
            <p:ph type="body" sz="quarter" idx="12" hasCustomPrompt="1"/>
            <p:custDataLst>
              <p:tags r:id="rId3"/>
            </p:custDataLst>
          </p:nvPr>
        </p:nvSpPr>
        <p:spPr>
          <a:xfrm>
            <a:off x="463549" y="5497488"/>
            <a:ext cx="613727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accent2"/>
                </a:solidFill>
              </a:defRPr>
            </a:lvl2pPr>
            <a:lvl3pPr marL="914400" indent="0">
              <a:buNone/>
              <a:defRPr sz="2000">
                <a:solidFill>
                  <a:schemeClr val="accent2"/>
                </a:solidFill>
              </a:defRPr>
            </a:lvl3pPr>
            <a:lvl4pPr marL="1371600" indent="0">
              <a:buNone/>
              <a:defRPr sz="2000">
                <a:solidFill>
                  <a:schemeClr val="accent2"/>
                </a:solidFill>
              </a:defRPr>
            </a:lvl4pPr>
            <a:lvl5pPr marL="1828800" indent="0">
              <a:buNone/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 smtClean="0"/>
              <a:t>Place holder Place, Date </a:t>
            </a:r>
            <a:br>
              <a:rPr lang="en-US" noProof="0" dirty="0" smtClean="0"/>
            </a:br>
            <a:r>
              <a:rPr lang="en-US" dirty="0" smtClean="0"/>
              <a:t>Author, Business Unit/Department</a:t>
            </a:r>
            <a:endParaRPr lang="en-US" noProof="0" dirty="0"/>
          </a:p>
        </p:txBody>
      </p:sp>
      <p:sp>
        <p:nvSpPr>
          <p:cNvPr id="6" name="Rechteck 5"/>
          <p:cNvSpPr/>
          <p:nvPr userDrawn="1">
            <p:custDataLst>
              <p:tags r:id="rId4"/>
            </p:custDataLst>
          </p:nvPr>
        </p:nvSpPr>
        <p:spPr>
          <a:xfrm>
            <a:off x="0" y="1484784"/>
            <a:ext cx="6520653" cy="38884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463550" y="2715152"/>
            <a:ext cx="5976094" cy="430887"/>
          </a:xfrm>
        </p:spPr>
        <p:txBody>
          <a:bodyPr wrap="square" lIns="0" tIns="0" rIns="0" bIns="0" anchor="b" anchorCtr="0">
            <a:spAutoFit/>
          </a:bodyPr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Title master format by click treat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463550" y="3317503"/>
            <a:ext cx="5976094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Format model of caption master treat by clicking</a:t>
            </a:r>
            <a:endParaRPr lang="en-US" noProof="0" dirty="0"/>
          </a:p>
        </p:txBody>
      </p:sp>
      <p:sp>
        <p:nvSpPr>
          <p:cNvPr id="4" name="Rechteck 3"/>
          <p:cNvSpPr/>
          <p:nvPr userDrawn="1">
            <p:custDataLst>
              <p:tags r:id="rId7"/>
            </p:custDataLst>
          </p:nvPr>
        </p:nvSpPr>
        <p:spPr>
          <a:xfrm>
            <a:off x="6601662" y="1484784"/>
            <a:ext cx="3685338" cy="3888432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noProof="0" dirty="0" smtClean="0">
              <a:solidFill>
                <a:schemeClr val="tx1"/>
              </a:solidFill>
            </a:endParaRPr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1" hasCustomPrompt="1"/>
            <p:custDataLst>
              <p:tags r:id="rId8"/>
            </p:custDataLst>
          </p:nvPr>
        </p:nvSpPr>
        <p:spPr>
          <a:xfrm>
            <a:off x="463549" y="4057328"/>
            <a:ext cx="5976541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en-US" noProof="0" dirty="0" smtClean="0"/>
              <a:t>Place holder prepared for</a:t>
            </a:r>
            <a:endParaRPr lang="en-US" noProof="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6602413" y="1484313"/>
            <a:ext cx="3684587" cy="3889375"/>
          </a:xfrm>
        </p:spPr>
        <p:txBody>
          <a:bodyPr anchor="ctr" anchorCtr="0">
            <a:normAutofit/>
          </a:bodyPr>
          <a:lstStyle>
            <a:lvl1pPr marL="185738" indent="0">
              <a:defRPr sz="1400" baseline="0"/>
            </a:lvl1pPr>
          </a:lstStyle>
          <a:p>
            <a:pPr lvl="0"/>
            <a:r>
              <a:rPr lang="en-US" noProof="0" smtClean="0"/>
              <a:t>Please insert specific picture(s) or use the generic FEV Globe</a:t>
            </a:r>
          </a:p>
        </p:txBody>
      </p:sp>
      <p:pic>
        <p:nvPicPr>
          <p:cNvPr id="13" name="Picture 17" descr="fev"/>
          <p:cNvPicPr>
            <a:picLocks noChangeAspect="1" noChangeArrowheads="1"/>
          </p:cNvPicPr>
          <p:nvPr userDrawn="1">
            <p:custDataLst>
              <p:tags r:id="rId9"/>
            </p:custDataLst>
          </p:nvPr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543074" y="6343650"/>
            <a:ext cx="1337952" cy="42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943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76425748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14"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 hasCustomPrompt="1"/>
            <p:custDataLst>
              <p:tags r:id="rId4"/>
            </p:custDataLst>
          </p:nvPr>
        </p:nvSpPr>
        <p:spPr>
          <a:xfrm>
            <a:off x="463275" y="1484313"/>
            <a:ext cx="9001400" cy="47529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800"/>
              </a:spcBef>
              <a:buNone/>
              <a:defRPr sz="1800" b="1"/>
            </a:lvl1pPr>
            <a:lvl2pPr marL="265113" indent="-265113">
              <a:spcBef>
                <a:spcPts val="1800"/>
              </a:spcBef>
              <a:buClr>
                <a:schemeClr val="accent2"/>
              </a:buClr>
              <a:buFont typeface="Wingdings" pitchFamily="2" charset="2"/>
              <a:buChar char="n"/>
              <a:defRPr sz="1800" b="1"/>
            </a:lvl2pPr>
            <a:lvl3pPr marL="542925" indent="-277813"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800" baseline="0"/>
            </a:lvl3pPr>
            <a:lvl4pPr marL="804863" indent="-268288">
              <a:spcBef>
                <a:spcPts val="300"/>
              </a:spcBef>
              <a:buClr>
                <a:schemeClr val="accent2"/>
              </a:buClr>
              <a:buFont typeface="Arial" pitchFamily="34" charset="0"/>
              <a:buChar char="–"/>
              <a:defRPr sz="1800"/>
            </a:lvl4pPr>
            <a:lvl5pPr marL="804863" indent="0">
              <a:spcBef>
                <a:spcPts val="300"/>
              </a:spcBef>
              <a:buNone/>
              <a:defRPr sz="1800" baseline="0"/>
            </a:lvl5pPr>
          </a:lstStyle>
          <a:p>
            <a:pPr lvl="1"/>
            <a:r>
              <a:rPr lang="en-US" noProof="0" dirty="0" smtClean="0"/>
              <a:t>Chapter  Level 1</a:t>
            </a:r>
          </a:p>
          <a:p>
            <a:pPr lvl="2"/>
            <a:r>
              <a:rPr lang="en-US" dirty="0" smtClean="0"/>
              <a:t>Sub-Chapter Level 2</a:t>
            </a:r>
          </a:p>
          <a:p>
            <a:pPr lvl="3"/>
            <a:r>
              <a:rPr lang="en-US" noProof="0" dirty="0" smtClean="0"/>
              <a:t>Sub-Chapter Level 3</a:t>
            </a:r>
          </a:p>
        </p:txBody>
      </p:sp>
      <p:cxnSp>
        <p:nvCxnSpPr>
          <p:cNvPr id="10" name="Gerade Verbindung 9"/>
          <p:cNvCxnSpPr/>
          <p:nvPr userDrawn="1">
            <p:custDataLst>
              <p:tags r:id="rId5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7" descr="fev"/>
          <p:cNvPicPr>
            <a:picLocks noChangeAspect="1" noChangeArrowheads="1"/>
          </p:cNvPicPr>
          <p:nvPr userDrawn="1">
            <p:custDataLst>
              <p:tags r:id="rId6"/>
            </p:custDataLst>
          </p:nvPr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oliennummernplatzhalter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ußzeilenplatzhalter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12" name="Text Placeholder 3"/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</p:spTree>
    <p:extLst>
      <p:ext uri="{BB962C8B-B14F-4D97-AF65-F5344CB8AC3E}">
        <p14:creationId xmlns:p14="http://schemas.microsoft.com/office/powerpoint/2010/main" val="2056274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WITHOUT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0583632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862" name="think-cell Slide" r:id="rId10" imgW="270" imgH="270" progId="TCLayout.ActiveDocument.1">
                  <p:embed/>
                </p:oleObj>
              </mc:Choice>
              <mc:Fallback>
                <p:oleObj name="think-cell Slide" r:id="rId10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cxnSp>
        <p:nvCxnSpPr>
          <p:cNvPr id="15" name="Gerade Verbindung 14"/>
          <p:cNvCxnSpPr/>
          <p:nvPr userDrawn="1">
            <p:custDataLst>
              <p:tags r:id="rId4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4"/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16" name="Text Placeholder 3"/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  <p:pic>
        <p:nvPicPr>
          <p:cNvPr id="17" name="Picture 17" descr="fev"/>
          <p:cNvPicPr>
            <a:picLocks noChangeAspect="1" noChangeArrowheads="1"/>
          </p:cNvPicPr>
          <p:nvPr userDrawn="1">
            <p:custDataLst>
              <p:tags r:id="rId8"/>
            </p:custDataLst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1637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02848602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59"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sp>
        <p:nvSpPr>
          <p:cNvPr id="14" name="Textplatzhalter 8"/>
          <p:cNvSpPr>
            <a:spLocks noGrp="1"/>
          </p:cNvSpPr>
          <p:nvPr>
            <p:ph type="body" sz="quarter" idx="19" hasCustomPrompt="1"/>
            <p:custDataLst>
              <p:tags r:id="rId4"/>
            </p:custDataLst>
          </p:nvPr>
        </p:nvSpPr>
        <p:spPr>
          <a:xfrm>
            <a:off x="463550" y="6381750"/>
            <a:ext cx="8162529" cy="143593"/>
          </a:xfrm>
        </p:spPr>
        <p:txBody>
          <a:bodyPr anchor="b" anchorCtr="0">
            <a:noAutofit/>
          </a:bodyPr>
          <a:lstStyle>
            <a:lvl1pPr>
              <a:defRPr sz="9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smtClean="0"/>
              <a:t>Source: (Arial 9pt, not bold, grey)</a:t>
            </a:r>
          </a:p>
        </p:txBody>
      </p:sp>
      <p:cxnSp>
        <p:nvCxnSpPr>
          <p:cNvPr id="18" name="Gerade Verbindung 17"/>
          <p:cNvCxnSpPr/>
          <p:nvPr userDrawn="1">
            <p:custDataLst>
              <p:tags r:id="rId5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liennummernplatzhalter 4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ußzeilenplatzhalter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15" name="Text Placeholder 3"/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  <p:pic>
        <p:nvPicPr>
          <p:cNvPr id="19" name="Picture 17" descr="fev"/>
          <p:cNvPicPr>
            <a:picLocks noChangeAspect="1" noChangeArrowheads="1"/>
          </p:cNvPicPr>
          <p:nvPr userDrawn="1">
            <p:custDataLst>
              <p:tags r:id="rId9"/>
            </p:custDataLst>
          </p:nvPr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4040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_WITHOUT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20166886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842"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826" y="404667"/>
            <a:ext cx="9000589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463550" y="1484312"/>
            <a:ext cx="9001125" cy="4752975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cxnSp>
        <p:nvCxnSpPr>
          <p:cNvPr id="17" name="Gerade Verbindung 16"/>
          <p:cNvCxnSpPr/>
          <p:nvPr userDrawn="1">
            <p:custDataLst>
              <p:tags r:id="rId5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7" descr="fev"/>
          <p:cNvPicPr>
            <a:picLocks noChangeAspect="1" noChangeArrowheads="1"/>
          </p:cNvPicPr>
          <p:nvPr userDrawn="1">
            <p:custDataLst>
              <p:tags r:id="rId6"/>
            </p:custDataLst>
          </p:nvPr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oliennummernplatzhalter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ußzeilenplatzhalter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Glück / Update of 3-cylinder GT-Power model with TC maps provided by TEL / 07.03.2014</a:t>
            </a:r>
            <a:endParaRPr lang="en-US" dirty="0"/>
          </a:p>
        </p:txBody>
      </p:sp>
      <p:sp>
        <p:nvSpPr>
          <p:cNvPr id="15" name="Text Placeholder 3"/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</p:spTree>
    <p:extLst>
      <p:ext uri="{BB962C8B-B14F-4D97-AF65-F5344CB8AC3E}">
        <p14:creationId xmlns:p14="http://schemas.microsoft.com/office/powerpoint/2010/main" val="1111869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_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7796676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64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550" y="404667"/>
            <a:ext cx="9000865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463549" y="1484313"/>
            <a:ext cx="9001125" cy="4752976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461546" y="6381750"/>
            <a:ext cx="8164533" cy="143594"/>
          </a:xfrm>
        </p:spPr>
        <p:txBody>
          <a:bodyPr anchor="b" anchorCtr="0">
            <a:noAutofit/>
          </a:bodyPr>
          <a:lstStyle>
            <a:lvl1pPr>
              <a:defRPr sz="9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 smtClean="0"/>
              <a:t>Source: (Arial 9pt, not bold, grey)</a:t>
            </a:r>
          </a:p>
        </p:txBody>
      </p:sp>
      <p:cxnSp>
        <p:nvCxnSpPr>
          <p:cNvPr id="16" name="Gerade Verbindung 15"/>
          <p:cNvCxnSpPr/>
          <p:nvPr userDrawn="1">
            <p:custDataLst>
              <p:tags r:id="rId6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7" descr="fev"/>
          <p:cNvPicPr>
            <a:picLocks noChangeAspect="1" noChangeArrowheads="1"/>
          </p:cNvPicPr>
          <p:nvPr userDrawn="1">
            <p:custDataLst>
              <p:tags r:id="rId7"/>
            </p:custDataLst>
          </p:nvPr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oliennummernplatzhalter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ußzeilenplatzhalter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18" name="Text Placeholder 3"/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</p:spTree>
    <p:extLst>
      <p:ext uri="{BB962C8B-B14F-4D97-AF65-F5344CB8AC3E}">
        <p14:creationId xmlns:p14="http://schemas.microsoft.com/office/powerpoint/2010/main" val="22325816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2/3 WITHOUT Header_WITHOUT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9" hasCustomPrompt="1"/>
          </p:nvPr>
        </p:nvSpPr>
        <p:spPr>
          <a:xfrm>
            <a:off x="463550" y="1845145"/>
            <a:ext cx="5472038" cy="4392143"/>
          </a:xfrm>
          <a:ln>
            <a:solidFill>
              <a:schemeClr val="bg2"/>
            </a:solidFill>
          </a:ln>
        </p:spPr>
        <p:txBody>
          <a:bodyPr lIns="72000" tIns="72000" rIns="72000" bIns="72000">
            <a:normAutofit/>
          </a:bodyPr>
          <a:lstStyle>
            <a:lvl1pPr>
              <a:spcBef>
                <a:spcPts val="1200"/>
              </a:spcBef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3775362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732"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826" y="404667"/>
            <a:ext cx="9000589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6079713" y="1844674"/>
            <a:ext cx="3384962" cy="4392613"/>
          </a:xfrm>
          <a:ln>
            <a:solidFill>
              <a:schemeClr val="bg2"/>
            </a:solidFill>
          </a:ln>
        </p:spPr>
        <p:txBody>
          <a:bodyPr lIns="72000" tIns="72000" rIns="72000" bIns="72000">
            <a:normAutofit/>
          </a:bodyPr>
          <a:lstStyle>
            <a:lvl1pPr>
              <a:spcBef>
                <a:spcPts val="1200"/>
              </a:spcBef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cxnSp>
        <p:nvCxnSpPr>
          <p:cNvPr id="17" name="Gerade Verbindung 16"/>
          <p:cNvCxnSpPr/>
          <p:nvPr userDrawn="1">
            <p:custDataLst>
              <p:tags r:id="rId5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liennummernplatzhalter 4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ußzeilenplatzhalter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18" name="Text Placeholder 3"/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  <p:pic>
        <p:nvPicPr>
          <p:cNvPr id="19" name="Picture 17" descr="fev"/>
          <p:cNvPicPr>
            <a:picLocks noChangeAspect="1" noChangeArrowheads="1"/>
          </p:cNvPicPr>
          <p:nvPr userDrawn="1">
            <p:custDataLst>
              <p:tags r:id="rId9"/>
            </p:custDataLst>
          </p:nvPr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1924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2/3 WITHOUT Header_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9" hasCustomPrompt="1"/>
          </p:nvPr>
        </p:nvSpPr>
        <p:spPr>
          <a:xfrm>
            <a:off x="463550" y="1845145"/>
            <a:ext cx="5472038" cy="4392143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56010112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795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826" y="404667"/>
            <a:ext cx="9000589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6079713" y="1844675"/>
            <a:ext cx="3384962" cy="4392614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cxnSp>
        <p:nvCxnSpPr>
          <p:cNvPr id="17" name="Gerade Verbindung 16"/>
          <p:cNvCxnSpPr/>
          <p:nvPr userDrawn="1">
            <p:custDataLst>
              <p:tags r:id="rId5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liennummernplatzhalter 4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ußzeilenplatzhalter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22" name="Text Placeholder 3"/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  <p:pic>
        <p:nvPicPr>
          <p:cNvPr id="24" name="Picture 17" descr="fev"/>
          <p:cNvPicPr>
            <a:picLocks noChangeAspect="1" noChangeArrowheads="1"/>
          </p:cNvPicPr>
          <p:nvPr userDrawn="1">
            <p:custDataLst>
              <p:tags r:id="rId9"/>
            </p:custDataLst>
          </p:nvPr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platzhalter 8"/>
          <p:cNvSpPr>
            <a:spLocks noGrp="1"/>
          </p:cNvSpPr>
          <p:nvPr>
            <p:ph type="body" sz="quarter" idx="20" hasCustomPrompt="1"/>
            <p:custDataLst>
              <p:tags r:id="rId10"/>
            </p:custDataLst>
          </p:nvPr>
        </p:nvSpPr>
        <p:spPr>
          <a:xfrm>
            <a:off x="461546" y="6381750"/>
            <a:ext cx="8164533" cy="143594"/>
          </a:xfrm>
        </p:spPr>
        <p:txBody>
          <a:bodyPr anchor="b" anchorCtr="0">
            <a:noAutofit/>
          </a:bodyPr>
          <a:lstStyle>
            <a:lvl1pPr>
              <a:defRPr sz="9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smtClean="0"/>
              <a:t>Source: (Arial 9pt, not bold, grey)</a:t>
            </a:r>
          </a:p>
        </p:txBody>
      </p:sp>
    </p:spTree>
    <p:extLst>
      <p:ext uri="{BB962C8B-B14F-4D97-AF65-F5344CB8AC3E}">
        <p14:creationId xmlns:p14="http://schemas.microsoft.com/office/powerpoint/2010/main" val="10026776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2/3 WITH Header_WITHOUT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06408457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758" name="think-cell Slide" r:id="rId14" imgW="270" imgH="270" progId="TCLayout.ActiveDocument.1">
                  <p:embed/>
                </p:oleObj>
              </mc:Choice>
              <mc:Fallback>
                <p:oleObj name="think-cell Slide" r:id="rId1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826" y="404666"/>
            <a:ext cx="9000589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cxnSp>
        <p:nvCxnSpPr>
          <p:cNvPr id="17" name="Gerade Verbindung 16"/>
          <p:cNvCxnSpPr/>
          <p:nvPr userDrawn="1">
            <p:custDataLst>
              <p:tags r:id="rId4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8"/>
          <p:cNvSpPr>
            <a:spLocks noGrp="1"/>
          </p:cNvSpPr>
          <p:nvPr>
            <p:ph sz="quarter" idx="20" hasCustomPrompt="1"/>
            <p:custDataLst>
              <p:tags r:id="rId5"/>
            </p:custDataLst>
          </p:nvPr>
        </p:nvSpPr>
        <p:spPr>
          <a:xfrm>
            <a:off x="463550" y="2276475"/>
            <a:ext cx="5472113" cy="3960813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1" hasCustomPrompt="1"/>
            <p:custDataLst>
              <p:tags r:id="rId6"/>
            </p:custDataLst>
          </p:nvPr>
        </p:nvSpPr>
        <p:spPr>
          <a:xfrm>
            <a:off x="463550" y="1844676"/>
            <a:ext cx="5472038" cy="432196"/>
          </a:xfrm>
          <a:solidFill>
            <a:schemeClr val="accent1"/>
          </a:solidFill>
          <a:ln>
            <a:solidFill>
              <a:schemeClr val="bg2"/>
            </a:solidFill>
          </a:ln>
        </p:spPr>
        <p:txBody>
          <a:bodyPr anchor="ctr" anchorCtr="0">
            <a:noAutofit/>
          </a:bodyPr>
          <a:lstStyle>
            <a:lvl1pPr algn="ctr">
              <a:defRPr sz="1600"/>
            </a:lvl1pPr>
          </a:lstStyle>
          <a:p>
            <a:pPr lvl="0"/>
            <a:r>
              <a:rPr lang="en-US" noProof="0" smtClean="0"/>
              <a:t>Title</a:t>
            </a:r>
            <a:endParaRPr lang="en-US" noProof="0"/>
          </a:p>
        </p:txBody>
      </p:sp>
      <p:sp>
        <p:nvSpPr>
          <p:cNvPr id="18" name="Textplatzhalter 6"/>
          <p:cNvSpPr>
            <a:spLocks noGrp="1"/>
          </p:cNvSpPr>
          <p:nvPr>
            <p:ph type="body" sz="quarter" idx="22" hasCustomPrompt="1"/>
            <p:custDataLst>
              <p:tags r:id="rId7"/>
            </p:custDataLst>
          </p:nvPr>
        </p:nvSpPr>
        <p:spPr>
          <a:xfrm>
            <a:off x="6079604" y="1844676"/>
            <a:ext cx="3385072" cy="432196"/>
          </a:xfrm>
          <a:solidFill>
            <a:schemeClr val="accent1"/>
          </a:solidFill>
          <a:ln>
            <a:solidFill>
              <a:schemeClr val="bg2"/>
            </a:solidFill>
          </a:ln>
        </p:spPr>
        <p:txBody>
          <a:bodyPr anchor="ctr" anchorCtr="0">
            <a:noAutofit/>
          </a:bodyPr>
          <a:lstStyle>
            <a:lvl1pPr algn="ctr">
              <a:defRPr sz="1600"/>
            </a:lvl1pPr>
          </a:lstStyle>
          <a:p>
            <a:pPr lvl="0"/>
            <a:r>
              <a:rPr lang="en-US" noProof="0" smtClean="0"/>
              <a:t>Title</a:t>
            </a:r>
            <a:endParaRPr lang="en-US" noProof="0"/>
          </a:p>
        </p:txBody>
      </p:sp>
      <p:sp>
        <p:nvSpPr>
          <p:cNvPr id="14" name="Foliennummernplatzhalter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extplatzhalter 4"/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6079713" y="2276871"/>
            <a:ext cx="3384962" cy="3960417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21" name="Fußzeilenplatzhalter 3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23" name="Text Placeholder 3"/>
          <p:cNvSpPr txBox="1">
            <a:spLocks/>
          </p:cNvSpPr>
          <p:nvPr userDrawn="1">
            <p:custDataLst>
              <p:tags r:id="rId11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  <p:pic>
        <p:nvPicPr>
          <p:cNvPr id="25" name="Picture 17" descr="fev"/>
          <p:cNvPicPr>
            <a:picLocks noChangeAspect="1" noChangeArrowheads="1"/>
          </p:cNvPicPr>
          <p:nvPr userDrawn="1">
            <p:custDataLst>
              <p:tags r:id="rId12"/>
            </p:custDataLst>
          </p:nvPr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765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2/3 WITH Header_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52691460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820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826" y="404667"/>
            <a:ext cx="9000589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cxnSp>
        <p:nvCxnSpPr>
          <p:cNvPr id="17" name="Gerade Verbindung 16"/>
          <p:cNvCxnSpPr/>
          <p:nvPr userDrawn="1">
            <p:custDataLst>
              <p:tags r:id="rId4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platzhalter 8"/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461546" y="6381750"/>
            <a:ext cx="8164533" cy="143594"/>
          </a:xfrm>
        </p:spPr>
        <p:txBody>
          <a:bodyPr anchor="b" anchorCtr="0">
            <a:noAutofit/>
          </a:bodyPr>
          <a:lstStyle>
            <a:lvl1pPr>
              <a:defRPr sz="9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smtClean="0"/>
              <a:t>Source: (Arial 9pt, not bold, grey)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20" hasCustomPrompt="1"/>
          </p:nvPr>
        </p:nvSpPr>
        <p:spPr>
          <a:xfrm>
            <a:off x="463550" y="2276475"/>
            <a:ext cx="5472113" cy="3960813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23" name="Textplatzhalter 6"/>
          <p:cNvSpPr>
            <a:spLocks noGrp="1"/>
          </p:cNvSpPr>
          <p:nvPr>
            <p:ph type="body" sz="quarter" idx="21" hasCustomPrompt="1"/>
          </p:nvPr>
        </p:nvSpPr>
        <p:spPr>
          <a:xfrm>
            <a:off x="463550" y="1844676"/>
            <a:ext cx="5472038" cy="432196"/>
          </a:xfrm>
          <a:solidFill>
            <a:schemeClr val="accent1"/>
          </a:solidFill>
          <a:ln>
            <a:solidFill>
              <a:schemeClr val="bg2"/>
            </a:solidFill>
          </a:ln>
        </p:spPr>
        <p:txBody>
          <a:bodyPr anchor="ctr" anchorCtr="0">
            <a:noAutofit/>
          </a:bodyPr>
          <a:lstStyle>
            <a:lvl1pPr algn="ctr">
              <a:defRPr sz="1600"/>
            </a:lvl1pPr>
          </a:lstStyle>
          <a:p>
            <a:pPr lvl="0"/>
            <a:r>
              <a:rPr lang="en-US" noProof="0" smtClean="0"/>
              <a:t>Title</a:t>
            </a:r>
            <a:endParaRPr lang="en-US" noProof="0"/>
          </a:p>
        </p:txBody>
      </p:sp>
      <p:sp>
        <p:nvSpPr>
          <p:cNvPr id="25" name="Textplatzhalt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079604" y="1844676"/>
            <a:ext cx="3385072" cy="432196"/>
          </a:xfrm>
          <a:solidFill>
            <a:schemeClr val="accent1"/>
          </a:solidFill>
          <a:ln>
            <a:solidFill>
              <a:schemeClr val="bg2"/>
            </a:solidFill>
          </a:ln>
        </p:spPr>
        <p:txBody>
          <a:bodyPr anchor="ctr" anchorCtr="0">
            <a:noAutofit/>
          </a:bodyPr>
          <a:lstStyle>
            <a:lvl1pPr algn="ctr">
              <a:defRPr sz="1600"/>
            </a:lvl1pPr>
          </a:lstStyle>
          <a:p>
            <a:pPr lvl="0"/>
            <a:r>
              <a:rPr lang="en-US" noProof="0" smtClean="0"/>
              <a:t>Title</a:t>
            </a:r>
            <a:endParaRPr lang="en-US" noProof="0"/>
          </a:p>
        </p:txBody>
      </p:sp>
      <p:sp>
        <p:nvSpPr>
          <p:cNvPr id="15" name="Foliennummernplatzhalter 4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platzhalter 4"/>
          <p:cNvSpPr>
            <a:spLocks noGrp="1"/>
          </p:cNvSpPr>
          <p:nvPr>
            <p:ph type="body" sz="quarter" idx="18" hasCustomPrompt="1"/>
            <p:custDataLst>
              <p:tags r:id="rId7"/>
            </p:custDataLst>
          </p:nvPr>
        </p:nvSpPr>
        <p:spPr>
          <a:xfrm>
            <a:off x="6079713" y="2276872"/>
            <a:ext cx="3384962" cy="3960416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22" name="Fußzeilenplatzhalter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26" name="Text Placeholder 3"/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  <p:pic>
        <p:nvPicPr>
          <p:cNvPr id="27" name="Picture 17" descr="fev"/>
          <p:cNvPicPr>
            <a:picLocks noChangeAspect="1" noChangeArrowheads="1"/>
          </p:cNvPicPr>
          <p:nvPr userDrawn="1">
            <p:custDataLst>
              <p:tags r:id="rId10"/>
            </p:custDataLst>
          </p:nvPr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0823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1/2 WITH Header_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3229383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039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826" y="404667"/>
            <a:ext cx="9000589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cxnSp>
        <p:nvCxnSpPr>
          <p:cNvPr id="17" name="Gerade Verbindung 16"/>
          <p:cNvCxnSpPr/>
          <p:nvPr userDrawn="1">
            <p:custDataLst>
              <p:tags r:id="rId4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platzhalter 8"/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461546" y="6381750"/>
            <a:ext cx="8164533" cy="143594"/>
          </a:xfrm>
        </p:spPr>
        <p:txBody>
          <a:bodyPr anchor="b" anchorCtr="0">
            <a:noAutofit/>
          </a:bodyPr>
          <a:lstStyle>
            <a:lvl1pPr>
              <a:defRPr sz="9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smtClean="0"/>
              <a:t>Source: (Arial 9pt, not bold, grey)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20" hasCustomPrompt="1"/>
          </p:nvPr>
        </p:nvSpPr>
        <p:spPr>
          <a:xfrm>
            <a:off x="463551" y="2276475"/>
            <a:ext cx="4392000" cy="3960813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23" name="Textplatzhalter 6"/>
          <p:cNvSpPr>
            <a:spLocks noGrp="1"/>
          </p:cNvSpPr>
          <p:nvPr>
            <p:ph type="body" sz="quarter" idx="21" hasCustomPrompt="1"/>
          </p:nvPr>
        </p:nvSpPr>
        <p:spPr>
          <a:xfrm>
            <a:off x="463550" y="1844676"/>
            <a:ext cx="4392000" cy="432196"/>
          </a:xfrm>
          <a:solidFill>
            <a:schemeClr val="accent1"/>
          </a:solidFill>
          <a:ln>
            <a:solidFill>
              <a:schemeClr val="bg2"/>
            </a:solidFill>
          </a:ln>
        </p:spPr>
        <p:txBody>
          <a:bodyPr anchor="ctr" anchorCtr="0">
            <a:noAutofit/>
          </a:bodyPr>
          <a:lstStyle>
            <a:lvl1pPr algn="ctr">
              <a:defRPr sz="1600"/>
            </a:lvl1pPr>
          </a:lstStyle>
          <a:p>
            <a:pPr lvl="0"/>
            <a:r>
              <a:rPr lang="en-US" noProof="0" smtClean="0"/>
              <a:t>Title</a:t>
            </a:r>
            <a:endParaRPr lang="en-US" noProof="0"/>
          </a:p>
        </p:txBody>
      </p:sp>
      <p:sp>
        <p:nvSpPr>
          <p:cNvPr id="25" name="Textplatzhalt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064961" y="1844824"/>
            <a:ext cx="4392000" cy="432196"/>
          </a:xfrm>
          <a:solidFill>
            <a:schemeClr val="accent1"/>
          </a:solidFill>
          <a:ln>
            <a:solidFill>
              <a:schemeClr val="bg2"/>
            </a:solidFill>
          </a:ln>
        </p:spPr>
        <p:txBody>
          <a:bodyPr anchor="ctr" anchorCtr="0">
            <a:noAutofit/>
          </a:bodyPr>
          <a:lstStyle>
            <a:lvl1pPr algn="ctr">
              <a:defRPr sz="1600"/>
            </a:lvl1pPr>
          </a:lstStyle>
          <a:p>
            <a:pPr lvl="0"/>
            <a:r>
              <a:rPr lang="en-US" noProof="0" smtClean="0"/>
              <a:t>Title</a:t>
            </a:r>
            <a:endParaRPr lang="en-US" noProof="0"/>
          </a:p>
        </p:txBody>
      </p:sp>
      <p:sp>
        <p:nvSpPr>
          <p:cNvPr id="15" name="Foliennummernplatzhalter 4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platzhalter 4"/>
          <p:cNvSpPr>
            <a:spLocks noGrp="1"/>
          </p:cNvSpPr>
          <p:nvPr>
            <p:ph type="body" sz="quarter" idx="18" hasCustomPrompt="1"/>
            <p:custDataLst>
              <p:tags r:id="rId7"/>
            </p:custDataLst>
          </p:nvPr>
        </p:nvSpPr>
        <p:spPr>
          <a:xfrm>
            <a:off x="5064961" y="2276872"/>
            <a:ext cx="4392000" cy="3960416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22" name="Fußzeilenplatzhalter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26" name="Text Placeholder 3"/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  <p:pic>
        <p:nvPicPr>
          <p:cNvPr id="27" name="Picture 17" descr="fev"/>
          <p:cNvPicPr>
            <a:picLocks noChangeAspect="1" noChangeArrowheads="1"/>
          </p:cNvPicPr>
          <p:nvPr userDrawn="1">
            <p:custDataLst>
              <p:tags r:id="rId10"/>
            </p:custDataLst>
          </p:nvPr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8163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1/2 WITH Header_WITHOUT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9897303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63"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826" y="404667"/>
            <a:ext cx="9000589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cxnSp>
        <p:nvCxnSpPr>
          <p:cNvPr id="17" name="Gerade Verbindung 16"/>
          <p:cNvCxnSpPr/>
          <p:nvPr userDrawn="1">
            <p:custDataLst>
              <p:tags r:id="rId4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8"/>
          <p:cNvSpPr>
            <a:spLocks noGrp="1"/>
          </p:cNvSpPr>
          <p:nvPr>
            <p:ph sz="quarter" idx="20" hasCustomPrompt="1"/>
          </p:nvPr>
        </p:nvSpPr>
        <p:spPr>
          <a:xfrm>
            <a:off x="463551" y="2276475"/>
            <a:ext cx="4392000" cy="3960813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23" name="Textplatzhalter 6"/>
          <p:cNvSpPr>
            <a:spLocks noGrp="1"/>
          </p:cNvSpPr>
          <p:nvPr>
            <p:ph type="body" sz="quarter" idx="21" hasCustomPrompt="1"/>
          </p:nvPr>
        </p:nvSpPr>
        <p:spPr>
          <a:xfrm>
            <a:off x="463550" y="1844676"/>
            <a:ext cx="4392000" cy="432196"/>
          </a:xfrm>
          <a:solidFill>
            <a:schemeClr val="accent1"/>
          </a:solidFill>
          <a:ln>
            <a:solidFill>
              <a:schemeClr val="bg2"/>
            </a:solidFill>
          </a:ln>
        </p:spPr>
        <p:txBody>
          <a:bodyPr anchor="ctr" anchorCtr="0">
            <a:noAutofit/>
          </a:bodyPr>
          <a:lstStyle>
            <a:lvl1pPr algn="ctr">
              <a:defRPr sz="1600"/>
            </a:lvl1pPr>
          </a:lstStyle>
          <a:p>
            <a:pPr lvl="0"/>
            <a:r>
              <a:rPr lang="en-US" noProof="0" smtClean="0"/>
              <a:t>Title</a:t>
            </a:r>
            <a:endParaRPr lang="en-US" noProof="0"/>
          </a:p>
        </p:txBody>
      </p:sp>
      <p:sp>
        <p:nvSpPr>
          <p:cNvPr id="25" name="Textplatzhalt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064961" y="1844824"/>
            <a:ext cx="4392000" cy="432196"/>
          </a:xfrm>
          <a:solidFill>
            <a:schemeClr val="accent1"/>
          </a:solidFill>
          <a:ln>
            <a:solidFill>
              <a:schemeClr val="bg2"/>
            </a:solidFill>
          </a:ln>
        </p:spPr>
        <p:txBody>
          <a:bodyPr anchor="ctr" anchorCtr="0">
            <a:noAutofit/>
          </a:bodyPr>
          <a:lstStyle>
            <a:lvl1pPr algn="ctr">
              <a:defRPr sz="1600"/>
            </a:lvl1pPr>
          </a:lstStyle>
          <a:p>
            <a:pPr lvl="0"/>
            <a:r>
              <a:rPr lang="en-US" noProof="0" smtClean="0"/>
              <a:t>Title</a:t>
            </a:r>
            <a:endParaRPr lang="en-US" noProof="0"/>
          </a:p>
        </p:txBody>
      </p:sp>
      <p:sp>
        <p:nvSpPr>
          <p:cNvPr id="15" name="Foliennummernplatzhalter 4"/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platzhalter 4"/>
          <p:cNvSpPr>
            <a:spLocks noGrp="1"/>
          </p:cNvSpPr>
          <p:nvPr>
            <p:ph type="body" sz="quarter" idx="18" hasCustomPrompt="1"/>
            <p:custDataLst>
              <p:tags r:id="rId6"/>
            </p:custDataLst>
          </p:nvPr>
        </p:nvSpPr>
        <p:spPr>
          <a:xfrm>
            <a:off x="5064961" y="2276872"/>
            <a:ext cx="4392000" cy="3960416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22" name="Fußzeilenplatzhalter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26" name="Text Placeholder 3"/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  <p:pic>
        <p:nvPicPr>
          <p:cNvPr id="27" name="Picture 17" descr="fev"/>
          <p:cNvPicPr>
            <a:picLocks noChangeAspect="1" noChangeArrowheads="1"/>
          </p:cNvPicPr>
          <p:nvPr userDrawn="1">
            <p:custDataLst>
              <p:tags r:id="rId9"/>
            </p:custDataLst>
          </p:nvPr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4816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1/2 WITHOUT Header_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39850477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87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826" y="404667"/>
            <a:ext cx="9000589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cxnSp>
        <p:nvCxnSpPr>
          <p:cNvPr id="17" name="Gerade Verbindung 16"/>
          <p:cNvCxnSpPr/>
          <p:nvPr userDrawn="1">
            <p:custDataLst>
              <p:tags r:id="rId4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platzhalter 8"/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461546" y="6381750"/>
            <a:ext cx="8164533" cy="143594"/>
          </a:xfrm>
        </p:spPr>
        <p:txBody>
          <a:bodyPr anchor="b" anchorCtr="0">
            <a:noAutofit/>
          </a:bodyPr>
          <a:lstStyle>
            <a:lvl1pPr>
              <a:defRPr sz="9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smtClean="0"/>
              <a:t>Source: (Arial 9pt, not bold, grey)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20" hasCustomPrompt="1"/>
          </p:nvPr>
        </p:nvSpPr>
        <p:spPr>
          <a:xfrm>
            <a:off x="463551" y="1844235"/>
            <a:ext cx="4392000" cy="4393053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15" name="Foliennummernplatzhalter 4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platzhalter 4"/>
          <p:cNvSpPr>
            <a:spLocks noGrp="1"/>
          </p:cNvSpPr>
          <p:nvPr>
            <p:ph type="body" sz="quarter" idx="18" hasCustomPrompt="1"/>
            <p:custDataLst>
              <p:tags r:id="rId7"/>
            </p:custDataLst>
          </p:nvPr>
        </p:nvSpPr>
        <p:spPr>
          <a:xfrm>
            <a:off x="5064961" y="1844675"/>
            <a:ext cx="4392000" cy="4392613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22" name="Fußzeilenplatzhalter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26" name="Text Placeholder 3"/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  <p:pic>
        <p:nvPicPr>
          <p:cNvPr id="27" name="Picture 17" descr="fev"/>
          <p:cNvPicPr>
            <a:picLocks noChangeAspect="1" noChangeArrowheads="1"/>
          </p:cNvPicPr>
          <p:nvPr userDrawn="1">
            <p:custDataLst>
              <p:tags r:id="rId10"/>
            </p:custDataLst>
          </p:nvPr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8802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1/2 WITHOUT Header_WITHOUT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88016044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111"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3826" y="404667"/>
            <a:ext cx="9000589" cy="648070"/>
          </a:xfrm>
        </p:spPr>
        <p:txBody>
          <a:bodyPr/>
          <a:lstStyle/>
          <a:p>
            <a:r>
              <a:rPr lang="en-US" noProof="0" smtClean="0"/>
              <a:t>Title master format by click treat</a:t>
            </a:r>
            <a:endParaRPr lang="en-US" noProof="0"/>
          </a:p>
        </p:txBody>
      </p:sp>
      <p:cxnSp>
        <p:nvCxnSpPr>
          <p:cNvPr id="17" name="Gerade Verbindung 16"/>
          <p:cNvCxnSpPr/>
          <p:nvPr userDrawn="1">
            <p:custDataLst>
              <p:tags r:id="rId4"/>
            </p:custDataLst>
          </p:nvPr>
        </p:nvCxnSpPr>
        <p:spPr>
          <a:xfrm flipH="1">
            <a:off x="463550" y="1124744"/>
            <a:ext cx="900112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8"/>
          <p:cNvSpPr>
            <a:spLocks noGrp="1"/>
          </p:cNvSpPr>
          <p:nvPr>
            <p:ph sz="quarter" idx="20" hasCustomPrompt="1"/>
          </p:nvPr>
        </p:nvSpPr>
        <p:spPr>
          <a:xfrm>
            <a:off x="463551" y="1844235"/>
            <a:ext cx="4392000" cy="4393053"/>
          </a:xfrm>
          <a:ln>
            <a:solidFill>
              <a:schemeClr val="bg2"/>
            </a:solidFill>
          </a:ln>
        </p:spPr>
        <p:txBody>
          <a:bodyPr lIns="72000" tIns="72000" rIns="72000" bIns="72000">
            <a:normAutofit/>
          </a:bodyPr>
          <a:lstStyle>
            <a:lvl1pPr>
              <a:spcBef>
                <a:spcPts val="1200"/>
              </a:spcBef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15" name="Foliennummernplatzhalter 4"/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platzhalter 4"/>
          <p:cNvSpPr>
            <a:spLocks noGrp="1"/>
          </p:cNvSpPr>
          <p:nvPr>
            <p:ph type="body" sz="quarter" idx="18" hasCustomPrompt="1"/>
            <p:custDataLst>
              <p:tags r:id="rId6"/>
            </p:custDataLst>
          </p:nvPr>
        </p:nvSpPr>
        <p:spPr>
          <a:xfrm>
            <a:off x="5064961" y="1844675"/>
            <a:ext cx="4392000" cy="4392613"/>
          </a:xfrm>
          <a:ln>
            <a:solidFill>
              <a:schemeClr val="bg2"/>
            </a:solidFill>
          </a:ln>
        </p:spPr>
        <p:txBody>
          <a:bodyPr lIns="72000" tIns="72000" rIns="72000" bIns="72000">
            <a:noAutofit/>
          </a:bodyPr>
          <a:lstStyle>
            <a:lvl1pPr>
              <a:spcBef>
                <a:spcPts val="1200"/>
              </a:spcBef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22" name="Fußzeilenplatzhalter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noProof="0" smtClean="0"/>
              <a:t>Glück / Update of 3-cylinder GT-Power model with TC maps provided by TEL / 07.03.2014</a:t>
            </a:r>
            <a:endParaRPr lang="en-US" noProof="0" dirty="0"/>
          </a:p>
        </p:txBody>
      </p:sp>
      <p:sp>
        <p:nvSpPr>
          <p:cNvPr id="26" name="Text Placeholder 3"/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3606756" y="6656678"/>
            <a:ext cx="3048912" cy="107722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 defTabSz="914400" rtl="0" eaLnBrk="1" latinLnBrk="0" hangingPunct="1">
              <a:spcBef>
                <a:spcPts val="1500"/>
              </a:spcBef>
              <a:buFontTx/>
              <a:buNone/>
              <a:defRPr sz="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70000" indent="-268288" algn="l" defTabSz="914400" rtl="0" eaLnBrk="1" latinLnBrk="0" hangingPunct="1">
              <a:spcBef>
                <a:spcPts val="1000"/>
              </a:spcBef>
              <a:buClr>
                <a:schemeClr val="tx1"/>
              </a:buClr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0000" indent="-268288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10000" indent="-270000" algn="l" defTabSz="914400" rtl="0" eaLnBrk="1" latinLnBrk="0" hangingPunct="1">
              <a:spcBef>
                <a:spcPts val="5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10000" indent="0" algn="l" defTabSz="914400" rtl="0" eaLnBrk="1" latinLnBrk="0" hangingPunct="1"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smtClean="0">
                <a:solidFill>
                  <a:schemeClr val="accent2"/>
                </a:solidFill>
              </a:rPr>
              <a:t>© by FEV – all rights reserved. Confidential – no passing on to third parties</a:t>
            </a:r>
          </a:p>
        </p:txBody>
      </p:sp>
      <p:pic>
        <p:nvPicPr>
          <p:cNvPr id="27" name="Picture 17" descr="fev"/>
          <p:cNvPicPr>
            <a:picLocks noChangeAspect="1" noChangeArrowheads="1"/>
          </p:cNvPicPr>
          <p:nvPr userDrawn="1">
            <p:custDataLst>
              <p:tags r:id="rId9"/>
            </p:custDataLst>
          </p:nvPr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1" t="-8666" r="-6556" b="-6718"/>
          <a:stretch/>
        </p:blipFill>
        <p:spPr bwMode="auto">
          <a:xfrm>
            <a:off x="8977502" y="6476400"/>
            <a:ext cx="90352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13203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6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vmlDrawing" Target="../drawings/vmlDrawing1.vml"/><Relationship Id="rId20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930566682"/>
              </p:ext>
            </p:extLst>
          </p:nvPr>
        </p:nvGraphicFramePr>
        <p:xfrm>
          <a:off x="0" y="0"/>
          <a:ext cx="178594" cy="21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70" name="think-cell Slide" r:id="rId23" imgW="270" imgH="270" progId="TCLayout.ActiveDocument.1">
                  <p:embed/>
                </p:oleObj>
              </mc:Choice>
              <mc:Fallback>
                <p:oleObj name="think-cell Slide" r:id="rId23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78594" cy="211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463550" y="404666"/>
            <a:ext cx="9001125" cy="65777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noProof="0" dirty="0" smtClean="0"/>
              <a:t>Title master format by click treat</a:t>
            </a:r>
            <a:endParaRPr lang="en-US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62980" y="6656678"/>
            <a:ext cx="3024336" cy="1077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Glück / Update of 3-cylinder GT-Power model with TC maps provided by TEL / 07.03.2014</a:t>
            </a:r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463550" y="1484315"/>
            <a:ext cx="9001126" cy="475297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smtClean="0"/>
              <a:t>Level 0</a:t>
            </a:r>
          </a:p>
          <a:p>
            <a:pPr lvl="1"/>
            <a:r>
              <a:rPr lang="en-US" noProof="0" smtClean="0"/>
              <a:t>Level 1</a:t>
            </a:r>
          </a:p>
          <a:p>
            <a:pPr lvl="2"/>
            <a:r>
              <a:rPr lang="en-US" noProof="0" smtClean="0"/>
              <a:t>Level 2</a:t>
            </a:r>
          </a:p>
          <a:p>
            <a:pPr lvl="3"/>
            <a:r>
              <a:rPr lang="en-US" noProof="0" smtClean="0"/>
              <a:t>Level 3</a:t>
            </a:r>
          </a:p>
          <a:p>
            <a:pPr lvl="4"/>
            <a:r>
              <a:rPr lang="en-US" noProof="0" smtClean="0"/>
              <a:t>Level 4</a:t>
            </a:r>
            <a:endParaRPr lang="en-US" noProof="0"/>
          </a:p>
        </p:txBody>
      </p:sp>
      <p:grpSp>
        <p:nvGrpSpPr>
          <p:cNvPr id="15" name="Gruppieren 14"/>
          <p:cNvGrpSpPr/>
          <p:nvPr>
            <p:custDataLst>
              <p:tags r:id="rId21"/>
            </p:custDataLst>
          </p:nvPr>
        </p:nvGrpSpPr>
        <p:grpSpPr>
          <a:xfrm>
            <a:off x="9680004" y="404664"/>
            <a:ext cx="142156" cy="728853"/>
            <a:chOff x="8532440" y="190500"/>
            <a:chExt cx="142156" cy="728853"/>
          </a:xfrm>
        </p:grpSpPr>
        <p:sp>
          <p:nvSpPr>
            <p:cNvPr id="16" name="Rechteck 15"/>
            <p:cNvSpPr/>
            <p:nvPr/>
          </p:nvSpPr>
          <p:spPr>
            <a:xfrm>
              <a:off x="8532440" y="190500"/>
              <a:ext cx="142156" cy="142156"/>
            </a:xfrm>
            <a:prstGeom prst="rect">
              <a:avLst/>
            </a:prstGeom>
            <a:solidFill>
              <a:srgbClr val="DA1F3D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Rechteck 16"/>
            <p:cNvSpPr/>
            <p:nvPr/>
          </p:nvSpPr>
          <p:spPr>
            <a:xfrm>
              <a:off x="8532440" y="483849"/>
              <a:ext cx="142156" cy="142156"/>
            </a:xfrm>
            <a:prstGeom prst="rect">
              <a:avLst/>
            </a:prstGeom>
            <a:solidFill>
              <a:srgbClr val="DA1F3D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hteck 17"/>
            <p:cNvSpPr/>
            <p:nvPr/>
          </p:nvSpPr>
          <p:spPr>
            <a:xfrm>
              <a:off x="8532440" y="777197"/>
              <a:ext cx="142156" cy="142156"/>
            </a:xfrm>
            <a:prstGeom prst="rect">
              <a:avLst/>
            </a:prstGeom>
            <a:solidFill>
              <a:srgbClr val="DA1F3D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1" name="Foliennummernplatzhalter 4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9809258" y="6594547"/>
            <a:ext cx="374802" cy="18466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76DD5177-7742-4693-BD72-19615DDCA4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007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6" r:id="rId3"/>
    <p:sldLayoutId id="2147483662" r:id="rId4"/>
    <p:sldLayoutId id="2147483665" r:id="rId5"/>
    <p:sldLayoutId id="2147483652" r:id="rId6"/>
    <p:sldLayoutId id="2147483670" r:id="rId7"/>
    <p:sldLayoutId id="2147483672" r:id="rId8"/>
    <p:sldLayoutId id="2147483671" r:id="rId9"/>
    <p:sldLayoutId id="2147483673" r:id="rId10"/>
    <p:sldLayoutId id="2147483674" r:id="rId11"/>
    <p:sldLayoutId id="2147483676" r:id="rId12"/>
    <p:sldLayoutId id="2147483675" r:id="rId13"/>
    <p:sldLayoutId id="2147483677" r:id="rId1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800"/>
        </a:spcBef>
        <a:buFont typeface="Arial" pitchFamily="34" charset="0"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spcBef>
          <a:spcPts val="800"/>
        </a:spcBef>
        <a:buClr>
          <a:schemeClr val="accent2"/>
        </a:buClr>
        <a:buFont typeface="Wingdings" pitchFamily="2" charset="2"/>
        <a:buChar char="n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9875" algn="l" defTabSz="914400" rtl="0" eaLnBrk="1" latinLnBrk="0" hangingPunct="1">
        <a:spcBef>
          <a:spcPts val="6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4863" indent="-268288" algn="l" defTabSz="914400" rtl="0" eaLnBrk="1" latinLnBrk="0" hangingPunct="1">
        <a:spcBef>
          <a:spcPts val="3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804863" indent="0" algn="l" defTabSz="914400" rtl="0" eaLnBrk="1" latinLnBrk="0" hangingPunct="1">
        <a:spcBef>
          <a:spcPts val="30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tags" Target="../tags/tag12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6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Objekt 67" hidden="1"/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03524170"/>
              </p:ext>
            </p:extLst>
          </p:nvPr>
        </p:nvGraphicFramePr>
        <p:xfrm>
          <a:off x="0" y="1"/>
          <a:ext cx="178594" cy="15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79" name="think-cell Slide" r:id="rId5" imgW="465" imgH="464" progId="TCLayout.ActiveDocument.1">
                  <p:embed/>
                </p:oleObj>
              </mc:Choice>
              <mc:Fallback>
                <p:oleObj name="think-cell Slide" r:id="rId5" imgW="465" imgH="4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1"/>
                        <a:ext cx="178594" cy="158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463549" y="5497488"/>
            <a:ext cx="6137275" cy="61555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Aachen, </a:t>
            </a:r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</a:t>
            </a:r>
            <a:r>
              <a:rPr lang="en-US" dirty="0"/>
              <a:t>of </a:t>
            </a:r>
            <a:r>
              <a:rPr lang="en-US" dirty="0" smtClean="0"/>
              <a:t>October 2015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63550" y="1853377"/>
            <a:ext cx="5976094" cy="1292662"/>
          </a:xfrm>
        </p:spPr>
        <p:txBody>
          <a:bodyPr/>
          <a:lstStyle/>
          <a:p>
            <a:r>
              <a:rPr lang="en-US" dirty="0"/>
              <a:t>Simulation of </a:t>
            </a:r>
            <a:r>
              <a:rPr lang="en-US" dirty="0" smtClean="0"/>
              <a:t>a 2.0 L  4 cylinder engine with an isolated combustion chamber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prepared for: 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Picture 3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1" t="13380" r="5231" b="17627"/>
          <a:stretch>
            <a:fillRect/>
          </a:stretch>
        </p:blipFill>
        <p:spPr bwMode="auto">
          <a:xfrm>
            <a:off x="6624736" y="2248985"/>
            <a:ext cx="3631332" cy="2325919"/>
          </a:xfrm>
          <a:prstGeom prst="rect">
            <a:avLst/>
          </a:prstGeom>
          <a:gradFill rotWithShape="1">
            <a:gsLst>
              <a:gs pos="0">
                <a:srgbClr val="8D9DCE"/>
              </a:gs>
              <a:gs pos="50000">
                <a:srgbClr val="8D9DCE">
                  <a:gamma/>
                  <a:tint val="10196"/>
                  <a:invGamma/>
                </a:srgbClr>
              </a:gs>
              <a:gs pos="100000">
                <a:srgbClr val="8D9DCE"/>
              </a:gs>
            </a:gsLst>
            <a:lin ang="5400000" scaled="1"/>
          </a:gradFill>
          <a:ln w="3175" algn="ctr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610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type="body" sz="quarter" idx="16"/>
          </p:nvPr>
        </p:nvSpPr>
        <p:spPr>
          <a:xfrm>
            <a:off x="463275" y="1268760"/>
            <a:ext cx="9001400" cy="4536951"/>
          </a:xfrm>
        </p:spPr>
        <p:txBody>
          <a:bodyPr/>
          <a:lstStyle/>
          <a:p>
            <a:pPr marL="0" lvl="1" indent="0">
              <a:spcBef>
                <a:spcPts val="1200"/>
              </a:spcBef>
              <a:buNone/>
            </a:pPr>
            <a:r>
              <a:rPr lang="en-US" dirty="0" smtClean="0"/>
              <a:t>GT-Power model</a:t>
            </a:r>
            <a:endParaRPr lang="en-US" altLang="de-DE" b="0" dirty="0" smtClean="0"/>
          </a:p>
          <a:p>
            <a:pPr lvl="1">
              <a:spcBef>
                <a:spcPts val="1200"/>
              </a:spcBef>
            </a:pPr>
            <a:r>
              <a:rPr lang="en-US" altLang="de-DE" b="0" dirty="0" smtClean="0"/>
              <a:t>The GT-Power model is based on a 2.0 L benchmark engine model</a:t>
            </a:r>
          </a:p>
          <a:p>
            <a:pPr lvl="1">
              <a:spcBef>
                <a:spcPts val="1200"/>
              </a:spcBef>
            </a:pPr>
            <a:r>
              <a:rPr lang="en-US" altLang="de-DE" b="0" dirty="0" smtClean="0"/>
              <a:t>The following technics are included in the model:</a:t>
            </a:r>
          </a:p>
          <a:p>
            <a:pPr lvl="2">
              <a:spcBef>
                <a:spcPts val="1200"/>
              </a:spcBef>
            </a:pPr>
            <a:r>
              <a:rPr lang="en-US" altLang="de-DE" dirty="0" smtClean="0"/>
              <a:t>HP- and LP-EGR</a:t>
            </a:r>
          </a:p>
          <a:p>
            <a:pPr lvl="2">
              <a:spcBef>
                <a:spcPts val="1200"/>
              </a:spcBef>
            </a:pPr>
            <a:r>
              <a:rPr lang="en-US" altLang="de-DE" dirty="0" smtClean="0"/>
              <a:t>Turbo charger with VGT</a:t>
            </a:r>
          </a:p>
          <a:p>
            <a:pPr lvl="2">
              <a:spcBef>
                <a:spcPts val="1200"/>
              </a:spcBef>
            </a:pPr>
            <a:r>
              <a:rPr lang="en-US" altLang="de-DE" b="0" dirty="0" smtClean="0"/>
              <a:t>DOC, SDPF and Slip catalyst</a:t>
            </a:r>
          </a:p>
          <a:p>
            <a:pPr lvl="2">
              <a:spcBef>
                <a:spcPts val="1200"/>
              </a:spcBef>
            </a:pPr>
            <a:r>
              <a:rPr lang="en-US" altLang="de-DE" dirty="0" smtClean="0"/>
              <a:t>Controlled water cooled charged air cooler</a:t>
            </a:r>
          </a:p>
          <a:p>
            <a:pPr lvl="2">
              <a:spcBef>
                <a:spcPts val="1200"/>
              </a:spcBef>
            </a:pPr>
            <a:r>
              <a:rPr lang="en-US" altLang="de-DE" dirty="0" smtClean="0"/>
              <a:t>Intake and exhaust throttle flap</a:t>
            </a:r>
            <a:endParaRPr lang="en-US" altLang="de-DE" b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DD5177-7742-4693-BD72-19615DDCA4C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itel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dirty="0" smtClean="0"/>
              <a:t>GT-Power simulation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16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type="body" sz="quarter" idx="16"/>
          </p:nvPr>
        </p:nvSpPr>
        <p:spPr>
          <a:xfrm>
            <a:off x="463275" y="1268760"/>
            <a:ext cx="9001400" cy="5040560"/>
          </a:xfrm>
        </p:spPr>
        <p:txBody>
          <a:bodyPr/>
          <a:lstStyle/>
          <a:p>
            <a:pPr marL="0" lvl="1" indent="0">
              <a:spcBef>
                <a:spcPts val="1200"/>
              </a:spcBef>
              <a:buNone/>
            </a:pPr>
            <a:r>
              <a:rPr lang="en-US" dirty="0"/>
              <a:t>Targets, Boundary Conditions and </a:t>
            </a:r>
            <a:r>
              <a:rPr lang="en-US" dirty="0" smtClean="0"/>
              <a:t>Assumptions</a:t>
            </a:r>
            <a:endParaRPr lang="en-US" altLang="de-DE" b="0" dirty="0" smtClean="0"/>
          </a:p>
          <a:p>
            <a:pPr lvl="1">
              <a:spcBef>
                <a:spcPts val="1200"/>
              </a:spcBef>
            </a:pPr>
            <a:r>
              <a:rPr lang="en-US" altLang="de-DE" sz="1600" b="0" dirty="0" smtClean="0"/>
              <a:t>Max</a:t>
            </a:r>
            <a:r>
              <a:rPr lang="en-US" altLang="de-DE" sz="1600" b="0" dirty="0"/>
              <a:t>. Power: </a:t>
            </a:r>
            <a:r>
              <a:rPr lang="en-US" altLang="de-DE" sz="1600" b="0" dirty="0" smtClean="0"/>
              <a:t>				120 kW </a:t>
            </a:r>
            <a:r>
              <a:rPr lang="en-US" altLang="de-DE" sz="1600" b="0" dirty="0"/>
              <a:t>@ </a:t>
            </a:r>
            <a:r>
              <a:rPr lang="en-US" altLang="de-DE" sz="1600" b="0" dirty="0" smtClean="0"/>
              <a:t>4000 rpm</a:t>
            </a:r>
          </a:p>
          <a:p>
            <a:pPr lvl="1">
              <a:spcBef>
                <a:spcPts val="1200"/>
              </a:spcBef>
            </a:pPr>
            <a:r>
              <a:rPr lang="en-US" altLang="de-DE" sz="1600" b="0" dirty="0" smtClean="0"/>
              <a:t>Max</a:t>
            </a:r>
            <a:r>
              <a:rPr lang="en-US" altLang="de-DE" sz="1600" b="0" dirty="0"/>
              <a:t>. Torque: </a:t>
            </a:r>
            <a:r>
              <a:rPr lang="en-US" altLang="de-DE" sz="1600" b="0" dirty="0" smtClean="0"/>
              <a:t>				350 </a:t>
            </a:r>
            <a:r>
              <a:rPr lang="en-US" altLang="de-DE" sz="1600" b="0" dirty="0"/>
              <a:t>Nm @ </a:t>
            </a:r>
            <a:r>
              <a:rPr lang="en-US" altLang="de-DE" sz="1600" b="0" dirty="0" smtClean="0"/>
              <a:t>1600 </a:t>
            </a:r>
            <a:r>
              <a:rPr lang="en-US" altLang="de-DE" sz="1600" b="0" dirty="0"/>
              <a:t>– </a:t>
            </a:r>
            <a:r>
              <a:rPr lang="en-US" altLang="de-DE" sz="1600" b="0" dirty="0" smtClean="0"/>
              <a:t>2400 </a:t>
            </a:r>
            <a:r>
              <a:rPr lang="en-US" altLang="de-DE" sz="1600" b="0" dirty="0"/>
              <a:t>rpm</a:t>
            </a:r>
          </a:p>
          <a:p>
            <a:pPr lvl="1">
              <a:spcBef>
                <a:spcPts val="1200"/>
              </a:spcBef>
            </a:pPr>
            <a:r>
              <a:rPr lang="en-US" altLang="de-DE" sz="1600" b="0" dirty="0"/>
              <a:t>Cylinder compression ratio: </a:t>
            </a:r>
            <a:r>
              <a:rPr lang="en-US" altLang="de-DE" sz="1600" b="0" dirty="0" smtClean="0"/>
              <a:t>		16.5</a:t>
            </a:r>
            <a:endParaRPr lang="en-US" altLang="de-DE" sz="1600" b="0" dirty="0"/>
          </a:p>
          <a:p>
            <a:pPr lvl="1">
              <a:spcBef>
                <a:spcPts val="1200"/>
              </a:spcBef>
            </a:pPr>
            <a:r>
              <a:rPr lang="en-US" altLang="de-DE" sz="1600" b="0" dirty="0" smtClean="0"/>
              <a:t>Cylinder </a:t>
            </a:r>
            <a:r>
              <a:rPr lang="en-US" altLang="de-DE" sz="1600" b="0" dirty="0"/>
              <a:t>peak </a:t>
            </a:r>
            <a:r>
              <a:rPr lang="en-US" altLang="de-DE" sz="1600" b="0" dirty="0" smtClean="0"/>
              <a:t>pressure: 			180 </a:t>
            </a:r>
            <a:r>
              <a:rPr lang="en-US" altLang="de-DE" sz="1600" b="0" dirty="0"/>
              <a:t>bar </a:t>
            </a:r>
            <a:r>
              <a:rPr lang="en-US" altLang="de-DE" sz="1600" b="0" dirty="0" smtClean="0"/>
              <a:t>(design limit 190 bar)</a:t>
            </a:r>
          </a:p>
          <a:p>
            <a:pPr lvl="1">
              <a:spcBef>
                <a:spcPts val="1200"/>
              </a:spcBef>
            </a:pPr>
            <a:r>
              <a:rPr lang="en-US" altLang="de-DE" sz="1600" b="0" dirty="0" smtClean="0"/>
              <a:t>Heat transfer in comparison model in the combustion chamber is reduced by different portions by varying a heat transfer multiplier (base: HTM = 1; variations from HTM = 0.2 – 0.6 during combustion and expansion phase; as extremum / for reference a HTM of 0 has been simulated) </a:t>
            </a:r>
          </a:p>
          <a:p>
            <a:pPr lvl="1">
              <a:spcBef>
                <a:spcPts val="1200"/>
              </a:spcBef>
            </a:pPr>
            <a:r>
              <a:rPr lang="en-US" altLang="de-DE" sz="1600" b="0" dirty="0" smtClean="0"/>
              <a:t>The real isolation effect will be depending on the used material and isolation-</a:t>
            </a:r>
            <a:r>
              <a:rPr lang="en-US" altLang="de-DE" sz="1600" b="0" dirty="0" err="1" smtClean="0"/>
              <a:t>wallthickness</a:t>
            </a:r>
            <a:endParaRPr lang="en-US" altLang="de-DE" sz="1600" b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DD5177-7742-4693-BD72-19615DDCA4C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el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dirty="0" smtClean="0"/>
              <a:t>Simulation of isolated combustion chamber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856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9" t="8573" r="5780" b="8845"/>
          <a:stretch>
            <a:fillRect/>
          </a:stretch>
        </p:blipFill>
        <p:spPr bwMode="auto">
          <a:xfrm>
            <a:off x="505726" y="2649852"/>
            <a:ext cx="5407191" cy="3515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Inhaltsplatzhalter 1"/>
          <p:cNvSpPr>
            <a:spLocks noGrp="1"/>
          </p:cNvSpPr>
          <p:nvPr>
            <p:ph sz="quarter" idx="20"/>
          </p:nvPr>
        </p:nvSpPr>
        <p:spPr>
          <a:xfrm>
            <a:off x="463550" y="1844824"/>
            <a:ext cx="5472113" cy="4392464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1"/>
          </p:nvPr>
        </p:nvSpPr>
        <p:spPr>
          <a:xfrm>
            <a:off x="463265" y="1412776"/>
            <a:ext cx="5472038" cy="432196"/>
          </a:xfrm>
        </p:spPr>
        <p:txBody>
          <a:bodyPr/>
          <a:lstStyle/>
          <a:p>
            <a:pPr marL="0" lvl="1" indent="0" algn="ctr">
              <a:spcBef>
                <a:spcPts val="1800"/>
              </a:spcBef>
              <a:buClrTx/>
              <a:buNone/>
            </a:pPr>
            <a:r>
              <a:rPr lang="en-US" altLang="de-DE" sz="1600" b="1" dirty="0"/>
              <a:t>HTC of rated power operating </a:t>
            </a:r>
            <a:r>
              <a:rPr lang="en-US" altLang="de-DE" sz="1600" b="1" dirty="0" smtClean="0"/>
              <a:t>point</a:t>
            </a:r>
            <a:endParaRPr lang="en-US" altLang="de-DE" sz="1600" b="1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2"/>
          </p:nvPr>
        </p:nvSpPr>
        <p:spPr>
          <a:xfrm>
            <a:off x="6079604" y="1412776"/>
            <a:ext cx="3385072" cy="432196"/>
          </a:xfrm>
        </p:spPr>
        <p:txBody>
          <a:bodyPr/>
          <a:lstStyle/>
          <a:p>
            <a:r>
              <a:rPr lang="en-US" dirty="0" smtClean="0"/>
              <a:t>Remarks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8"/>
          </p:nvPr>
        </p:nvSpPr>
        <p:spPr>
          <a:xfrm>
            <a:off x="6079713" y="1844825"/>
            <a:ext cx="3384962" cy="4392464"/>
          </a:xfrm>
        </p:spPr>
        <p:txBody>
          <a:bodyPr/>
          <a:lstStyle/>
          <a:p>
            <a:pPr lvl="1"/>
            <a:r>
              <a:rPr lang="en-US" dirty="0" smtClean="0">
                <a:sym typeface="Wingdings" pitchFamily="2" charset="2"/>
              </a:rPr>
              <a:t>The heat transfer multiplier has been varied between 0.2 and 1 during combustion and expansion phase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For comparison the in-cylinder heat transfer has also been reduced to zero </a:t>
            </a:r>
          </a:p>
        </p:txBody>
      </p:sp>
      <p:sp>
        <p:nvSpPr>
          <p:cNvPr id="40" name="Foliennummernplatzhalter 3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DD5177-7742-4693-BD72-19615DDCA4C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6" name="Titel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dirty="0"/>
              <a:t>Simulation of isolated combustion </a:t>
            </a:r>
            <a:r>
              <a:rPr lang="en-US" dirty="0" smtClean="0"/>
              <a:t>chamber – Full </a:t>
            </a:r>
            <a:r>
              <a:rPr lang="en-US" dirty="0"/>
              <a:t>load</a:t>
            </a:r>
          </a:p>
        </p:txBody>
      </p:sp>
      <p:cxnSp>
        <p:nvCxnSpPr>
          <p:cNvPr id="11" name="Gerade Verbindung 10"/>
          <p:cNvCxnSpPr/>
          <p:nvPr/>
        </p:nvCxnSpPr>
        <p:spPr>
          <a:xfrm>
            <a:off x="1994400" y="2348880"/>
            <a:ext cx="0" cy="28803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/>
        </p:nvCxnSpPr>
        <p:spPr>
          <a:xfrm>
            <a:off x="2635200" y="2348880"/>
            <a:ext cx="0" cy="28803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>
            <a:off x="1987200" y="2492896"/>
            <a:ext cx="643220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3"/>
          <p:cNvSpPr txBox="1">
            <a:spLocks/>
          </p:cNvSpPr>
          <p:nvPr/>
        </p:nvSpPr>
        <p:spPr>
          <a:xfrm>
            <a:off x="1111052" y="1844824"/>
            <a:ext cx="2520280" cy="6480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1800"/>
              </a:spcBef>
              <a:buFont typeface="Arial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spcBef>
                <a:spcPts val="800"/>
              </a:spcBef>
              <a:buClr>
                <a:schemeClr val="accent2"/>
              </a:buClr>
              <a:buFont typeface="Wingdings" pitchFamily="2" charset="2"/>
              <a:buChar char="n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9875" algn="l" defTabSz="914400" rtl="0" eaLnBrk="1" latinLnBrk="0" hangingPunct="1"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4863" indent="0" algn="l" defTabSz="914400" rtl="0" eaLnBrk="1" latinLnBrk="0" hangingPunct="1">
              <a:spcBef>
                <a:spcPts val="3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Wingdings" pitchFamily="2" charset="2"/>
              <a:buNone/>
            </a:pPr>
            <a:r>
              <a:rPr lang="en-US" sz="1600" dirty="0" smtClean="0">
                <a:sym typeface="Wingdings" pitchFamily="2" charset="2"/>
              </a:rPr>
              <a:t>Reduction of HTM during combustion and expansion</a:t>
            </a:r>
          </a:p>
        </p:txBody>
      </p:sp>
    </p:spTree>
    <p:extLst>
      <p:ext uri="{BB962C8B-B14F-4D97-AF65-F5344CB8AC3E}">
        <p14:creationId xmlns:p14="http://schemas.microsoft.com/office/powerpoint/2010/main" val="33721829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9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9" t="8573" r="5780" b="8845"/>
          <a:stretch>
            <a:fillRect/>
          </a:stretch>
        </p:blipFill>
        <p:spPr bwMode="auto">
          <a:xfrm>
            <a:off x="505726" y="2649852"/>
            <a:ext cx="5407191" cy="3515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Inhaltsplatzhalter 1"/>
          <p:cNvSpPr>
            <a:spLocks noGrp="1"/>
          </p:cNvSpPr>
          <p:nvPr>
            <p:ph sz="quarter" idx="20"/>
          </p:nvPr>
        </p:nvSpPr>
        <p:spPr>
          <a:xfrm>
            <a:off x="463550" y="1844824"/>
            <a:ext cx="5472113" cy="4392464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1"/>
          </p:nvPr>
        </p:nvSpPr>
        <p:spPr>
          <a:xfrm>
            <a:off x="463265" y="1412776"/>
            <a:ext cx="5472038" cy="432196"/>
          </a:xfrm>
        </p:spPr>
        <p:txBody>
          <a:bodyPr/>
          <a:lstStyle/>
          <a:p>
            <a:pPr marL="0" lvl="1" indent="0" algn="ctr">
              <a:spcBef>
                <a:spcPts val="1800"/>
              </a:spcBef>
              <a:buClrTx/>
              <a:buNone/>
            </a:pPr>
            <a:r>
              <a:rPr lang="en-US" altLang="de-DE" sz="1600" b="1" dirty="0"/>
              <a:t>HTC of rated </a:t>
            </a:r>
            <a:r>
              <a:rPr lang="en-US" altLang="de-DE" sz="1600" b="1" dirty="0" smtClean="0"/>
              <a:t>torque operating point</a:t>
            </a:r>
            <a:endParaRPr lang="en-US" altLang="de-DE" sz="1600" b="1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2"/>
          </p:nvPr>
        </p:nvSpPr>
        <p:spPr>
          <a:xfrm>
            <a:off x="6079604" y="1412776"/>
            <a:ext cx="3385072" cy="432196"/>
          </a:xfrm>
        </p:spPr>
        <p:txBody>
          <a:bodyPr/>
          <a:lstStyle/>
          <a:p>
            <a:r>
              <a:rPr lang="en-US" dirty="0" smtClean="0"/>
              <a:t>Remarks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8"/>
          </p:nvPr>
        </p:nvSpPr>
        <p:spPr>
          <a:xfrm>
            <a:off x="6079713" y="1844825"/>
            <a:ext cx="3384962" cy="4392464"/>
          </a:xfrm>
        </p:spPr>
        <p:txBody>
          <a:bodyPr/>
          <a:lstStyle/>
          <a:p>
            <a:pPr lvl="1"/>
            <a:r>
              <a:rPr lang="en-US" dirty="0" smtClean="0">
                <a:sym typeface="Wingdings" pitchFamily="2" charset="2"/>
              </a:rPr>
              <a:t>The same procedure has been investigated at rated torque operation</a:t>
            </a:r>
          </a:p>
        </p:txBody>
      </p:sp>
      <p:sp>
        <p:nvSpPr>
          <p:cNvPr id="40" name="Foliennummernplatzhalter 3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DD5177-7742-4693-BD72-19615DDCA4C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Titel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dirty="0"/>
              <a:t>Simulation of isolated combustion </a:t>
            </a:r>
            <a:r>
              <a:rPr lang="en-US" dirty="0" smtClean="0"/>
              <a:t>chamber – Full </a:t>
            </a:r>
            <a:r>
              <a:rPr lang="en-US" dirty="0"/>
              <a:t>load</a:t>
            </a:r>
          </a:p>
        </p:txBody>
      </p:sp>
      <p:cxnSp>
        <p:nvCxnSpPr>
          <p:cNvPr id="11" name="Gerade Verbindung 10"/>
          <p:cNvCxnSpPr/>
          <p:nvPr/>
        </p:nvCxnSpPr>
        <p:spPr>
          <a:xfrm>
            <a:off x="2047156" y="2348880"/>
            <a:ext cx="0" cy="28803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/>
        </p:nvCxnSpPr>
        <p:spPr>
          <a:xfrm>
            <a:off x="2559600" y="2348880"/>
            <a:ext cx="0" cy="28803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>
            <a:off x="2047156" y="2492895"/>
            <a:ext cx="512444" cy="1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3"/>
          <p:cNvSpPr txBox="1">
            <a:spLocks/>
          </p:cNvSpPr>
          <p:nvPr/>
        </p:nvSpPr>
        <p:spPr>
          <a:xfrm>
            <a:off x="1111052" y="1844824"/>
            <a:ext cx="2520280" cy="6480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1800"/>
              </a:spcBef>
              <a:buFont typeface="Arial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spcBef>
                <a:spcPts val="800"/>
              </a:spcBef>
              <a:buClr>
                <a:schemeClr val="accent2"/>
              </a:buClr>
              <a:buFont typeface="Wingdings" pitchFamily="2" charset="2"/>
              <a:buChar char="n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9875" algn="l" defTabSz="914400" rtl="0" eaLnBrk="1" latinLnBrk="0" hangingPunct="1"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4863" indent="0" algn="l" defTabSz="914400" rtl="0" eaLnBrk="1" latinLnBrk="0" hangingPunct="1">
              <a:spcBef>
                <a:spcPts val="3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Wingdings" pitchFamily="2" charset="2"/>
              <a:buNone/>
            </a:pPr>
            <a:r>
              <a:rPr lang="en-US" sz="1600" dirty="0" smtClean="0">
                <a:sym typeface="Wingdings" pitchFamily="2" charset="2"/>
              </a:rPr>
              <a:t>Reduction of HTM during combustion and expansion</a:t>
            </a:r>
          </a:p>
        </p:txBody>
      </p:sp>
    </p:spTree>
    <p:extLst>
      <p:ext uri="{BB962C8B-B14F-4D97-AF65-F5344CB8AC3E}">
        <p14:creationId xmlns:p14="http://schemas.microsoft.com/office/powerpoint/2010/main" val="13274225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942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5" t="8359" r="5838" b="6206"/>
          <a:stretch/>
        </p:blipFill>
        <p:spPr bwMode="auto">
          <a:xfrm>
            <a:off x="534989" y="2344296"/>
            <a:ext cx="5345322" cy="360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Inhaltsplatzhalter 1"/>
          <p:cNvSpPr>
            <a:spLocks noGrp="1"/>
          </p:cNvSpPr>
          <p:nvPr>
            <p:ph sz="quarter" idx="20"/>
          </p:nvPr>
        </p:nvSpPr>
        <p:spPr>
          <a:xfrm>
            <a:off x="463550" y="1844824"/>
            <a:ext cx="5472113" cy="4392464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1"/>
          </p:nvPr>
        </p:nvSpPr>
        <p:spPr>
          <a:xfrm>
            <a:off x="463265" y="1412776"/>
            <a:ext cx="5472038" cy="432196"/>
          </a:xfrm>
        </p:spPr>
        <p:txBody>
          <a:bodyPr/>
          <a:lstStyle/>
          <a:p>
            <a:r>
              <a:rPr lang="en-US" dirty="0" smtClean="0"/>
              <a:t>Losses and efficiencies</a:t>
            </a:r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2"/>
          </p:nvPr>
        </p:nvSpPr>
        <p:spPr>
          <a:xfrm>
            <a:off x="6079604" y="1412776"/>
            <a:ext cx="3385072" cy="432196"/>
          </a:xfrm>
        </p:spPr>
        <p:txBody>
          <a:bodyPr/>
          <a:lstStyle/>
          <a:p>
            <a:r>
              <a:rPr lang="en-US" dirty="0" smtClean="0"/>
              <a:t>Remarks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8"/>
          </p:nvPr>
        </p:nvSpPr>
        <p:spPr>
          <a:xfrm>
            <a:off x="6079713" y="1844825"/>
            <a:ext cx="3384962" cy="4392464"/>
          </a:xfrm>
        </p:spPr>
        <p:txBody>
          <a:bodyPr/>
          <a:lstStyle/>
          <a:p>
            <a:pPr lvl="1"/>
            <a:r>
              <a:rPr lang="en-US" dirty="0" smtClean="0">
                <a:sym typeface="Wingdings" pitchFamily="2" charset="2"/>
              </a:rPr>
              <a:t>Due to the isolation the in-cylinder heat transfer is reduced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BMEP has been kept constant in the simulation model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Because of the higher temperatures in the combustion chamber after expansion (due to less heat transfer) the exhaust energy increases. 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Less heat losses means also that less fuel is needed to generate the same BMEP – therefore brake efficiency increases, too</a:t>
            </a:r>
          </a:p>
        </p:txBody>
      </p:sp>
      <p:sp>
        <p:nvSpPr>
          <p:cNvPr id="40" name="Foliennummernplatzhalter 3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DD5177-7742-4693-BD72-19615DDCA4C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Titel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dirty="0"/>
              <a:t>Simulation of isolated combustion </a:t>
            </a:r>
            <a:r>
              <a:rPr lang="en-US" dirty="0" smtClean="0"/>
              <a:t>chamber – Full </a:t>
            </a:r>
            <a:r>
              <a:rPr lang="en-US" dirty="0"/>
              <a:t>load</a:t>
            </a:r>
          </a:p>
        </p:txBody>
      </p:sp>
    </p:spTree>
    <p:extLst>
      <p:ext uri="{BB962C8B-B14F-4D97-AF65-F5344CB8AC3E}">
        <p14:creationId xmlns:p14="http://schemas.microsoft.com/office/powerpoint/2010/main" val="18432859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20"/>
          </p:nvPr>
        </p:nvSpPr>
        <p:spPr>
          <a:xfrm>
            <a:off x="463550" y="1844824"/>
            <a:ext cx="5472113" cy="4392464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1"/>
          </p:nvPr>
        </p:nvSpPr>
        <p:spPr>
          <a:xfrm>
            <a:off x="463265" y="1412776"/>
            <a:ext cx="5472038" cy="432196"/>
          </a:xfrm>
        </p:spPr>
        <p:txBody>
          <a:bodyPr/>
          <a:lstStyle/>
          <a:p>
            <a:r>
              <a:rPr lang="en-US" dirty="0" smtClean="0"/>
              <a:t>Temperatures</a:t>
            </a:r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2"/>
          </p:nvPr>
        </p:nvSpPr>
        <p:spPr>
          <a:xfrm>
            <a:off x="6079604" y="1412776"/>
            <a:ext cx="3385072" cy="432196"/>
          </a:xfrm>
        </p:spPr>
        <p:txBody>
          <a:bodyPr/>
          <a:lstStyle/>
          <a:p>
            <a:r>
              <a:rPr lang="en-US" dirty="0" smtClean="0"/>
              <a:t>Remarks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8"/>
          </p:nvPr>
        </p:nvSpPr>
        <p:spPr>
          <a:xfrm>
            <a:off x="6079713" y="1844825"/>
            <a:ext cx="3384962" cy="4392464"/>
          </a:xfrm>
        </p:spPr>
        <p:txBody>
          <a:bodyPr/>
          <a:lstStyle/>
          <a:p>
            <a:pPr lvl="1"/>
            <a:r>
              <a:rPr lang="en-US" dirty="0" smtClean="0">
                <a:sym typeface="Wingdings" pitchFamily="2" charset="2"/>
              </a:rPr>
              <a:t>Due to the combustion chamber isolation the exhaust temperatures at the exhaust ports outlet and likewise the turbine inlet temperatures are for rated power up to 20 K higher than without the isolation, and up to 50 K for the rated torque operating point. But as a heat loss reduction of 80 % is more or less unrealistic, the benefit of temperature increase is little or even negligible </a:t>
            </a:r>
          </a:p>
        </p:txBody>
      </p:sp>
      <p:sp>
        <p:nvSpPr>
          <p:cNvPr id="40" name="Foliennummernplatzhalter 3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DD5177-7742-4693-BD72-19615DDCA4C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Titel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dirty="0"/>
              <a:t>Simulation of isolated combustion </a:t>
            </a:r>
            <a:r>
              <a:rPr lang="en-US" dirty="0" smtClean="0"/>
              <a:t>chamber – Full </a:t>
            </a:r>
            <a:r>
              <a:rPr lang="en-US" dirty="0"/>
              <a:t>load</a:t>
            </a:r>
          </a:p>
        </p:txBody>
      </p:sp>
      <p:pic>
        <p:nvPicPr>
          <p:cNvPr id="4249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5" t="8359" r="5838" b="6206"/>
          <a:stretch>
            <a:fillRect/>
          </a:stretch>
        </p:blipFill>
        <p:spPr bwMode="auto">
          <a:xfrm>
            <a:off x="534989" y="2344296"/>
            <a:ext cx="5345291" cy="360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759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20"/>
          </p:nvPr>
        </p:nvSpPr>
        <p:spPr>
          <a:xfrm>
            <a:off x="463550" y="1844824"/>
            <a:ext cx="5472113" cy="4392464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1"/>
          </p:nvPr>
        </p:nvSpPr>
        <p:spPr>
          <a:xfrm>
            <a:off x="463265" y="1412776"/>
            <a:ext cx="5472038" cy="432196"/>
          </a:xfrm>
        </p:spPr>
        <p:txBody>
          <a:bodyPr/>
          <a:lstStyle/>
          <a:p>
            <a:r>
              <a:rPr lang="en-US" dirty="0" smtClean="0"/>
              <a:t>Gas exchange</a:t>
            </a:r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2"/>
          </p:nvPr>
        </p:nvSpPr>
        <p:spPr>
          <a:xfrm>
            <a:off x="6079604" y="1412776"/>
            <a:ext cx="3385072" cy="432196"/>
          </a:xfrm>
        </p:spPr>
        <p:txBody>
          <a:bodyPr/>
          <a:lstStyle/>
          <a:p>
            <a:r>
              <a:rPr lang="en-US" dirty="0" smtClean="0"/>
              <a:t>Remarks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8"/>
          </p:nvPr>
        </p:nvSpPr>
        <p:spPr>
          <a:xfrm>
            <a:off x="6079713" y="1844825"/>
            <a:ext cx="3384962" cy="4392464"/>
          </a:xfrm>
        </p:spPr>
        <p:txBody>
          <a:bodyPr/>
          <a:lstStyle/>
          <a:p>
            <a:pPr lvl="1"/>
            <a:r>
              <a:rPr lang="en-US" dirty="0" smtClean="0">
                <a:sym typeface="Wingdings" pitchFamily="2" charset="2"/>
              </a:rPr>
              <a:t>Because of the higher exhaust temperatures the exhaust volume flows are slightly higher with the isolated combustion chamber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As result the turbine rack attack angle can be reduced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This reduces the back pressure before turbine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The zero HTM version of the rated power point is a kind of outlier because the max. cylinder pressure had to be reduced to keep BMEP constant (VTG is already completely open) =&gt; see also BSFC</a:t>
            </a:r>
          </a:p>
        </p:txBody>
      </p:sp>
      <p:sp>
        <p:nvSpPr>
          <p:cNvPr id="40" name="Foliennummernplatzhalter 3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DD5177-7742-4693-BD72-19615DDCA4C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6" name="Titel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dirty="0"/>
              <a:t>Simulation of isolated combustion </a:t>
            </a:r>
            <a:r>
              <a:rPr lang="en-US" dirty="0" smtClean="0"/>
              <a:t>chamber – </a:t>
            </a:r>
            <a:r>
              <a:rPr lang="en-US" dirty="0"/>
              <a:t>Full load</a:t>
            </a:r>
          </a:p>
        </p:txBody>
      </p:sp>
      <p:pic>
        <p:nvPicPr>
          <p:cNvPr id="4259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5" t="8359" r="5838" b="6206"/>
          <a:stretch>
            <a:fillRect/>
          </a:stretch>
        </p:blipFill>
        <p:spPr bwMode="auto">
          <a:xfrm>
            <a:off x="534989" y="2344296"/>
            <a:ext cx="5345291" cy="360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07876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20"/>
          </p:nvPr>
        </p:nvSpPr>
        <p:spPr>
          <a:xfrm>
            <a:off x="463550" y="1844824"/>
            <a:ext cx="5472113" cy="4392464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1"/>
          </p:nvPr>
        </p:nvSpPr>
        <p:spPr>
          <a:xfrm>
            <a:off x="463265" y="1412776"/>
            <a:ext cx="5472038" cy="432196"/>
          </a:xfrm>
        </p:spPr>
        <p:txBody>
          <a:bodyPr/>
          <a:lstStyle/>
          <a:p>
            <a:r>
              <a:rPr lang="en-US" dirty="0" smtClean="0"/>
              <a:t>Engine Performance</a:t>
            </a:r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2"/>
          </p:nvPr>
        </p:nvSpPr>
        <p:spPr>
          <a:xfrm>
            <a:off x="6079604" y="1412776"/>
            <a:ext cx="3385072" cy="432196"/>
          </a:xfrm>
        </p:spPr>
        <p:txBody>
          <a:bodyPr/>
          <a:lstStyle/>
          <a:p>
            <a:r>
              <a:rPr lang="en-US" dirty="0" smtClean="0"/>
              <a:t>Remarks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8"/>
          </p:nvPr>
        </p:nvSpPr>
        <p:spPr>
          <a:xfrm>
            <a:off x="6079713" y="1844825"/>
            <a:ext cx="3384962" cy="4392464"/>
          </a:xfrm>
        </p:spPr>
        <p:txBody>
          <a:bodyPr/>
          <a:lstStyle/>
          <a:p>
            <a:pPr lvl="1"/>
            <a:r>
              <a:rPr lang="en-US" dirty="0" smtClean="0">
                <a:sym typeface="Wingdings" pitchFamily="2" charset="2"/>
              </a:rPr>
              <a:t>Because of the lower back pressures before turbine the pumping losses can be reduced with lower in-cylinder heat transfer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This reduces the required indicated mean effective pressure of the high pressure cycle and as result the injected fuel mass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So BSFC is reduced 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see also comment on slide 6</a:t>
            </a:r>
          </a:p>
          <a:p>
            <a:pPr lvl="2">
              <a:buFont typeface="Wingdings"/>
              <a:buChar char="è"/>
            </a:pPr>
            <a:r>
              <a:rPr lang="en-US" dirty="0" smtClean="0">
                <a:sym typeface="Wingdings" pitchFamily="2" charset="2"/>
              </a:rPr>
              <a:t>The reduction potential of BSFC is also for less isolation effect high </a:t>
            </a:r>
            <a:r>
              <a:rPr lang="en-US" sz="1200" dirty="0" smtClean="0">
                <a:sym typeface="Wingdings" pitchFamily="2" charset="2"/>
              </a:rPr>
              <a:t>(but it has to be kept in mind that the combustion profile was not changed in the simulation model)</a:t>
            </a:r>
          </a:p>
        </p:txBody>
      </p:sp>
      <p:sp>
        <p:nvSpPr>
          <p:cNvPr id="40" name="Foliennummernplatzhalter 3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DD5177-7742-4693-BD72-19615DDCA4C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6" name="Titel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dirty="0"/>
              <a:t>Simulation of isolated combustion </a:t>
            </a:r>
            <a:r>
              <a:rPr lang="en-US" dirty="0" smtClean="0"/>
              <a:t>chamber – Full load</a:t>
            </a:r>
            <a:endParaRPr lang="en-US" dirty="0"/>
          </a:p>
        </p:txBody>
      </p:sp>
      <p:pic>
        <p:nvPicPr>
          <p:cNvPr id="4270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5" t="8359" r="5838" b="6206"/>
          <a:stretch>
            <a:fillRect/>
          </a:stretch>
        </p:blipFill>
        <p:spPr bwMode="auto">
          <a:xfrm>
            <a:off x="534989" y="2344296"/>
            <a:ext cx="5345291" cy="360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34202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/>
              <p:cNvSpPr>
                <a:spLocks noGrp="1"/>
              </p:cNvSpPr>
              <p:nvPr>
                <p:ph sz="quarter" idx="20"/>
              </p:nvPr>
            </p:nvSpPr>
            <p:spPr>
              <a:xfrm>
                <a:off x="463550" y="1844824"/>
                <a:ext cx="5472113" cy="4392464"/>
              </a:xfrm>
            </p:spPr>
            <p:txBody>
              <a:bodyPr/>
              <a:lstStyle/>
              <a:p>
                <a:r>
                  <a:rPr lang="en-US" b="0" dirty="0" smtClean="0">
                    <a:latin typeface="+mj-lt"/>
                  </a:rPr>
                  <a:t>Base: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latin typeface="Cambria Math"/>
                          </a:rPr>
                          <m:t>𝐾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de-DE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/>
                                  </a:rPr>
                                  <m:t>𝐺</m:t>
                                </m:r>
                              </m:sub>
                            </m:sSub>
                          </m:den>
                        </m:f>
                        <m:r>
                          <a:rPr lang="de-DE" b="0" i="1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de-DE" b="0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e-DE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/>
                                  </a:rPr>
                                  <m:t>𝐴𝑙𝑢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de-DE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l-GR" b="0" i="1" smtClean="0">
                                    <a:latin typeface="Cambria Math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/>
                                  </a:rPr>
                                  <m:t>𝐴𝑙𝑢</m:t>
                                </m:r>
                              </m:sub>
                            </m:sSub>
                          </m:den>
                        </m:f>
                        <m:r>
                          <a:rPr lang="de-DE" b="0" i="1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de-DE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de-DE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e-DE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/>
                                    <a:ea typeface="Cambria Math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/>
                                  </a:rPr>
                                  <m:t>𝑊</m:t>
                                </m:r>
                                <m:r>
                                  <a:rPr lang="de-DE" b="0" i="1" smtClean="0">
                                    <a:latin typeface="Cambria Math"/>
                                  </a:rPr>
                                  <m:t>/</m:t>
                                </m:r>
                                <m:r>
                                  <a:rPr lang="de-DE" b="0" i="1" smtClean="0">
                                    <a:latin typeface="Cambria Math"/>
                                  </a:rPr>
                                  <m:t>𝑂𝑖𝑙</m:t>
                                </m:r>
                              </m:sub>
                            </m:sSub>
                          </m:den>
                        </m:f>
                      </m:den>
                    </m:f>
                    <m:r>
                      <a:rPr lang="en-US" b="0" i="1" smtClean="0">
                        <a:latin typeface="Cambria Math"/>
                        <a:ea typeface="Cambria Math"/>
                      </a:rPr>
                      <m:t>≈</m:t>
                    </m:r>
                    <m:r>
                      <a:rPr lang="de-DE" b="0" i="1" smtClean="0">
                        <a:latin typeface="Cambria Math"/>
                        <a:ea typeface="Cambria Math"/>
                      </a:rPr>
                      <m:t>4800</m:t>
                    </m:r>
                    <m:f>
                      <m:fPr>
                        <m:ctrlPr>
                          <a:rPr lang="de-DE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de-DE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/>
                                <a:ea typeface="Cambria Math"/>
                              </a:rPr>
                              <m:t>𝑚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𝐾</m:t>
                        </m:r>
                      </m:den>
                    </m:f>
                    <m:r>
                      <a:rPr lang="de-DE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de-DE" b="0" i="1" smtClean="0">
                        <a:latin typeface="Cambria Math"/>
                        <a:ea typeface="Cambria Math"/>
                      </a:rPr>
                      <m:t>𝑤𝑖𝑡h</m:t>
                    </m:r>
                    <m:r>
                      <a:rPr lang="de-DE" b="0" i="1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de-DE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𝐺</m:t>
                        </m:r>
                      </m:sub>
                    </m:sSub>
                    <m:r>
                      <a:rPr lang="de-DE" b="0" i="1" smtClean="0">
                        <a:latin typeface="Cambria Math"/>
                        <a:ea typeface="Cambria Math"/>
                      </a:rPr>
                      <m:t>≈</m:t>
                    </m:r>
                    <m:f>
                      <m:fPr>
                        <m:ctrlPr>
                          <a:rPr lang="de-DE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8000</m:t>
                        </m:r>
                      </m:den>
                    </m:f>
                  </m:oMath>
                </a14:m>
                <a:r>
                  <a:rPr lang="de-DE" b="0" dirty="0">
                    <a:latin typeface="+mj-lt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0" i="1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b="0" i="1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de-DE" b="0" i="1">
                                <a:latin typeface="Cambria Math"/>
                                <a:ea typeface="Cambria Math"/>
                              </a:rPr>
                              <m:t>𝑚</m:t>
                            </m:r>
                          </m:e>
                          <m:sup>
                            <m:r>
                              <a:rPr lang="de-DE" b="0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de-DE" b="0" i="1">
                            <a:latin typeface="Cambria Math"/>
                            <a:ea typeface="Cambria Math"/>
                          </a:rPr>
                          <m:t>𝐾</m:t>
                        </m:r>
                      </m:num>
                      <m:den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𝑊</m:t>
                        </m:r>
                      </m:den>
                    </m:f>
                  </m:oMath>
                </a14:m>
                <a:endParaRPr lang="en-US" b="0" dirty="0" smtClean="0">
                  <a:latin typeface="+mj-lt"/>
                </a:endParaRPr>
              </a:p>
              <a:p>
                <a:r>
                  <a:rPr lang="en-US" b="0" dirty="0" smtClean="0">
                    <a:latin typeface="+mj-lt"/>
                  </a:rPr>
                  <a:t>With isolation: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de-DE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de-DE" b="0" i="1">
                              <a:latin typeface="Cambria Math"/>
                            </a:rPr>
                            <m:t>𝐾</m:t>
                          </m:r>
                        </m:den>
                      </m:f>
                      <m:r>
                        <a:rPr lang="en-US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de-DE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b="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de-DE" b="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DE" b="0" i="1">
                                      <a:latin typeface="Cambria Math"/>
                                    </a:rPr>
                                    <m:t>𝐺</m:t>
                                  </m:r>
                                </m:sub>
                              </m:sSub>
                            </m:den>
                          </m:f>
                          <m:r>
                            <a:rPr lang="de-DE" b="0" i="1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de-DE" b="0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b="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>
                                      <a:latin typeface="Cambria Math"/>
                                    </a:rPr>
                                    <m:t>𝐴𝑙𝑢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b="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b="0" i="1">
                                      <a:latin typeface="Cambria Math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de-DE" b="0" i="1">
                                      <a:latin typeface="Cambria Math"/>
                                    </a:rPr>
                                    <m:t>𝐴𝑙𝑢</m:t>
                                  </m:r>
                                </m:sub>
                              </m:sSub>
                            </m:den>
                          </m:f>
                          <m:r>
                            <a:rPr lang="de-DE" b="0" i="1" smtClean="0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de-DE" b="0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/>
                                    </a:rPr>
                                    <m:t>𝑖𝑠𝑜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b="0" i="1">
                                      <a:latin typeface="Cambria Math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/>
                                    </a:rPr>
                                    <m:t>𝑖𝑠𝑜</m:t>
                                  </m:r>
                                </m:sub>
                              </m:sSub>
                            </m:den>
                          </m:f>
                          <m:r>
                            <a:rPr lang="de-DE" b="0" i="1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de-DE" b="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de-DE" b="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b="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DE" b="0" i="1">
                                      <a:latin typeface="Cambria Math"/>
                                    </a:rPr>
                                    <m:t>𝑊</m:t>
                                  </m:r>
                                  <m:r>
                                    <a:rPr lang="de-DE" b="0" i="1">
                                      <a:latin typeface="Cambria Math"/>
                                    </a:rPr>
                                    <m:t>/</m:t>
                                  </m:r>
                                  <m:r>
                                    <a:rPr lang="de-DE" b="0" i="1">
                                      <a:latin typeface="Cambria Math"/>
                                    </a:rPr>
                                    <m:t>𝑂𝑖𝑙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US" b="0" i="1"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1150</m:t>
                      </m:r>
                      <m:f>
                        <m:fPr>
                          <m:ctrlPr>
                            <a:rPr lang="de-DE" b="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de-DE" b="0" i="1">
                              <a:latin typeface="Cambria Math"/>
                              <a:ea typeface="Cambria Math"/>
                            </a:rPr>
                            <m:t>𝑊</m:t>
                          </m:r>
                        </m:num>
                        <m:den>
                          <m:sSup>
                            <m:sSupPr>
                              <m:ctrlPr>
                                <a:rPr lang="de-DE" b="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de-DE" b="0" i="1">
                                  <a:latin typeface="Cambria Math"/>
                                  <a:ea typeface="Cambria Math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de-DE" b="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b="0" i="1">
                              <a:latin typeface="Cambria Math"/>
                              <a:ea typeface="Cambria Math"/>
                            </a:rPr>
                            <m:t>𝐾</m:t>
                          </m:r>
                        </m:den>
                      </m:f>
                      <m:r>
                        <a:rPr lang="de-DE" b="0" i="1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de-DE" b="0" i="1" dirty="0" smtClean="0">
                  <a:latin typeface="+mj-lt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>
                          <a:latin typeface="Cambria Math"/>
                          <a:ea typeface="Cambria Math"/>
                        </a:rPr>
                        <m:t>𝑤𝑖𝑡h</m:t>
                      </m:r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 </m:t>
                      </m:r>
                      <m:f>
                        <m:fPr>
                          <m:ctrlPr>
                            <a:rPr lang="de-DE" b="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de-DE" b="0" i="1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/>
                                </a:rPr>
                                <m:t>𝑖𝑠𝑜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b="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b="0" i="1"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/>
                                </a:rPr>
                                <m:t>𝑖𝑠𝑜</m:t>
                              </m:r>
                            </m:sub>
                          </m:sSub>
                        </m:den>
                      </m:f>
                      <m:r>
                        <a:rPr lang="de-DE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de-DE" b="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0.4 </m:t>
                          </m:r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𝑚𝑚</m:t>
                          </m:r>
                        </m:num>
                        <m:den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0.6</m:t>
                          </m:r>
                          <m:f>
                            <m:fPr>
                              <m:ctrlPr>
                                <a:rPr lang="de-DE" b="0" i="1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de-DE" b="0" i="1">
                                  <a:latin typeface="Cambria Math"/>
                                  <a:ea typeface="Cambria Math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/>
                                  <a:ea typeface="Cambria Math"/>
                                </a:rPr>
                                <m:t>𝑚</m:t>
                              </m:r>
                              <m:r>
                                <a:rPr lang="de-DE" b="0" i="1">
                                  <a:latin typeface="Cambria Math"/>
                                  <a:ea typeface="Cambria Math"/>
                                </a:rPr>
                                <m:t>𝐾</m:t>
                              </m:r>
                            </m:den>
                          </m:f>
                        </m:den>
                      </m:f>
                      <m:r>
                        <a:rPr lang="de-DE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de-DE" b="0" i="1">
                          <a:latin typeface="Cambria Math"/>
                          <a:ea typeface="Cambria Math"/>
                        </a:rPr>
                        <m:t>≈</m:t>
                      </m:r>
                      <m:f>
                        <m:fPr>
                          <m:ctrlPr>
                            <a:rPr lang="de-DE" b="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de-DE" b="0" i="1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/>
                              <a:ea typeface="Cambria Math"/>
                            </a:rPr>
                            <m:t>15</m:t>
                          </m:r>
                          <m:r>
                            <a:rPr lang="de-DE" b="0" i="1">
                              <a:latin typeface="Cambria Math"/>
                              <a:ea typeface="Cambria Math"/>
                            </a:rPr>
                            <m:t>00</m:t>
                          </m:r>
                        </m:den>
                      </m:f>
                      <m:f>
                        <m:fPr>
                          <m:ctrlPr>
                            <a:rPr lang="de-DE" b="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b="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de-DE" b="0" i="1">
                                  <a:latin typeface="Cambria Math"/>
                                  <a:ea typeface="Cambria Math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de-DE" b="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b="0" i="1">
                              <a:latin typeface="Cambria Math"/>
                              <a:ea typeface="Cambria Math"/>
                            </a:rPr>
                            <m:t>𝐾</m:t>
                          </m:r>
                        </m:num>
                        <m:den>
                          <m:r>
                            <a:rPr lang="de-DE" b="0" i="1">
                              <a:latin typeface="Cambria Math"/>
                              <a:ea typeface="Cambria Math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b="0" dirty="0" smtClean="0">
                  <a:latin typeface="+mj-lt"/>
                </a:endParaRPr>
              </a:p>
              <a:p>
                <a:r>
                  <a:rPr lang="en-US" b="0" dirty="0" smtClean="0">
                    <a:cs typeface="Times New Roman"/>
                    <a:sym typeface="Wingdings" panose="05000000000000000000" pitchFamily="2" charset="2"/>
                  </a:rPr>
                  <a:t></a:t>
                </a:r>
                <a:r>
                  <a:rPr lang="en-US" b="0" dirty="0" smtClean="0">
                    <a:latin typeface="+mj-lt"/>
                    <a:cs typeface="Times New Roman"/>
                  </a:rPr>
                  <a:t> Reduction potential of heat transfer of ca. 75% through piston and cylinder head</a:t>
                </a:r>
              </a:p>
              <a:p>
                <a:r>
                  <a:rPr lang="en-US" b="0" dirty="0" smtClean="0">
                    <a:cs typeface="Times New Roman"/>
                    <a:sym typeface="Wingdings" panose="05000000000000000000" pitchFamily="2" charset="2"/>
                  </a:rPr>
                  <a:t>A h</a:t>
                </a:r>
                <a:r>
                  <a:rPr lang="en-US" b="0" dirty="0" smtClean="0">
                    <a:cs typeface="Times New Roman"/>
                  </a:rPr>
                  <a:t>eat transfer reduction of 75% corresponds to a HTM of 0.25 in GT-Power </a:t>
                </a:r>
                <a:r>
                  <a:rPr lang="en-US" b="0" dirty="0" smtClean="0">
                    <a:cs typeface="Times New Roman"/>
                    <a:sym typeface="Wingdings" panose="05000000000000000000" pitchFamily="2" charset="2"/>
                  </a:rPr>
                  <a:t> but this value has to be corrected because the cylinder liner will not be isolated</a:t>
                </a:r>
                <a:endParaRPr lang="en-US" b="0" dirty="0"/>
              </a:p>
              <a:p>
                <a:endParaRPr lang="en-US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2" name="Inhaltsplatzhalt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0"/>
              </p:nvPr>
            </p:nvSpPr>
            <p:spPr>
              <a:xfrm>
                <a:off x="463550" y="1844824"/>
                <a:ext cx="5472113" cy="4392464"/>
              </a:xfrm>
              <a:blipFill rotWithShape="1">
                <a:blip r:embed="rId3"/>
                <a:stretch>
                  <a:fillRect l="-889" b="-83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platzhalter 4"/>
          <p:cNvSpPr>
            <a:spLocks noGrp="1"/>
          </p:cNvSpPr>
          <p:nvPr>
            <p:ph type="body" sz="quarter" idx="21"/>
          </p:nvPr>
        </p:nvSpPr>
        <p:spPr>
          <a:xfrm>
            <a:off x="463265" y="1412776"/>
            <a:ext cx="5472038" cy="432196"/>
          </a:xfrm>
        </p:spPr>
        <p:txBody>
          <a:bodyPr/>
          <a:lstStyle/>
          <a:p>
            <a:r>
              <a:rPr lang="en-US" dirty="0" smtClean="0"/>
              <a:t>Quantitative estimation of isolation effect</a:t>
            </a:r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2"/>
          </p:nvPr>
        </p:nvSpPr>
        <p:spPr>
          <a:xfrm>
            <a:off x="6079604" y="1412776"/>
            <a:ext cx="3385072" cy="432196"/>
          </a:xfrm>
        </p:spPr>
        <p:txBody>
          <a:bodyPr/>
          <a:lstStyle/>
          <a:p>
            <a:r>
              <a:rPr lang="en-US" dirty="0" smtClean="0"/>
              <a:t>Remarks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8"/>
          </p:nvPr>
        </p:nvSpPr>
        <p:spPr>
          <a:xfrm>
            <a:off x="6079713" y="1844825"/>
            <a:ext cx="3384962" cy="4392464"/>
          </a:xfrm>
        </p:spPr>
        <p:txBody>
          <a:bodyPr/>
          <a:lstStyle/>
          <a:p>
            <a:pPr lvl="1"/>
            <a:r>
              <a:rPr lang="en-US" dirty="0" smtClean="0">
                <a:sym typeface="Wingdings" pitchFamily="2" charset="2"/>
              </a:rPr>
              <a:t>In GT-Power the heat transfer multiplier was applied for the complete combustion chamber 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Therefore it has to be estimated how much heat is lost through the liner</a:t>
            </a:r>
          </a:p>
        </p:txBody>
      </p:sp>
      <p:sp>
        <p:nvSpPr>
          <p:cNvPr id="40" name="Foliennummernplatzhalter 3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DD5177-7742-4693-BD72-19615DDCA4C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6" name="Titel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dirty="0"/>
              <a:t>Simulation of isolated combustion </a:t>
            </a:r>
            <a:r>
              <a:rPr lang="en-US" dirty="0" smtClean="0"/>
              <a:t>chamber – Full load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0893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20"/>
          </p:nvPr>
        </p:nvSpPr>
        <p:spPr>
          <a:xfrm>
            <a:off x="463550" y="1844824"/>
            <a:ext cx="5472113" cy="4392464"/>
          </a:xfrm>
        </p:spPr>
        <p:txBody>
          <a:bodyPr/>
          <a:lstStyle/>
          <a:p>
            <a:r>
              <a:rPr lang="en-US" b="0" dirty="0" smtClean="0">
                <a:latin typeface="+mj-lt"/>
              </a:rPr>
              <a:t>At the  “starting” angle of -30°CA the piston position is about 8.5mm, at 60°CA it is 30mm</a:t>
            </a:r>
          </a:p>
          <a:p>
            <a:r>
              <a:rPr lang="en-US" b="0" dirty="0" smtClean="0">
                <a:latin typeface="+mj-lt"/>
              </a:rPr>
              <a:t>In total a piston stroke of 38.5mm is done</a:t>
            </a:r>
          </a:p>
          <a:p>
            <a:r>
              <a:rPr lang="en-US" b="0" dirty="0" smtClean="0">
                <a:latin typeface="+mj-lt"/>
              </a:rPr>
              <a:t>This is a percentage of 40.3% of the complete stroke.</a:t>
            </a:r>
          </a:p>
          <a:p>
            <a:r>
              <a:rPr lang="en-US" b="0" dirty="0" smtClean="0">
                <a:latin typeface="+mj-lt"/>
              </a:rPr>
              <a:t>The cylinder wall area during the isolation phase is nearly the same than the wall area of piston and cylinder head (liner wall area is 48.7% of the total area). </a:t>
            </a:r>
          </a:p>
          <a:p>
            <a:r>
              <a:rPr lang="en-US" b="0" dirty="0" smtClean="0">
                <a:latin typeface="+mj-lt"/>
              </a:rPr>
              <a:t>Assuming that the wall temperatures of cylinder head, liner and piston are the same, the following can be stated (because the heat loss is proportional to the wall area):</a:t>
            </a:r>
          </a:p>
          <a:p>
            <a:r>
              <a:rPr lang="en-US" b="0" dirty="0">
                <a:latin typeface="+mj-lt"/>
              </a:rPr>
              <a:t>I</a:t>
            </a:r>
            <a:r>
              <a:rPr lang="en-US" b="0" dirty="0" smtClean="0">
                <a:latin typeface="+mj-lt"/>
              </a:rPr>
              <a:t>n GT-Power not a heat transfer reduction of 75% has to be applied, but 75</a:t>
            </a:r>
            <a:r>
              <a:rPr lang="en-US" dirty="0" smtClean="0">
                <a:latin typeface="+mj-lt"/>
              </a:rPr>
              <a:t>% *</a:t>
            </a:r>
            <a:r>
              <a:rPr lang="en-US" b="0" dirty="0" smtClean="0">
                <a:latin typeface="+mj-lt"/>
              </a:rPr>
              <a:t> (1-0.487) = 38.475%</a:t>
            </a:r>
          </a:p>
          <a:p>
            <a:r>
              <a:rPr lang="en-US" b="0" dirty="0" smtClean="0">
                <a:latin typeface="+mj-lt"/>
              </a:rPr>
              <a:t>The chosen HTM has to be </a:t>
            </a:r>
            <a:r>
              <a:rPr lang="en-US" dirty="0" smtClean="0">
                <a:latin typeface="+mj-lt"/>
              </a:rPr>
              <a:t>0.61525</a:t>
            </a:r>
            <a:endParaRPr lang="en-US" dirty="0">
              <a:latin typeface="+mj-lt"/>
            </a:endParaRPr>
          </a:p>
          <a:p>
            <a:endParaRPr lang="en-US" b="0" dirty="0" smtClean="0">
              <a:latin typeface="+mj-lt"/>
            </a:endParaRP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1"/>
          </p:nvPr>
        </p:nvSpPr>
        <p:spPr>
          <a:xfrm>
            <a:off x="463265" y="1412776"/>
            <a:ext cx="5472038" cy="432196"/>
          </a:xfrm>
        </p:spPr>
        <p:txBody>
          <a:bodyPr/>
          <a:lstStyle/>
          <a:p>
            <a:r>
              <a:rPr lang="en-US" dirty="0" smtClean="0"/>
              <a:t>Quantitative estimation of isolation effect</a:t>
            </a:r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2"/>
          </p:nvPr>
        </p:nvSpPr>
        <p:spPr>
          <a:xfrm>
            <a:off x="6079604" y="1412776"/>
            <a:ext cx="3385072" cy="432196"/>
          </a:xfrm>
        </p:spPr>
        <p:txBody>
          <a:bodyPr/>
          <a:lstStyle/>
          <a:p>
            <a:r>
              <a:rPr lang="en-US" dirty="0" smtClean="0"/>
              <a:t>Remarks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8"/>
          </p:nvPr>
        </p:nvSpPr>
        <p:spPr>
          <a:xfrm>
            <a:off x="6079713" y="1844825"/>
            <a:ext cx="3384962" cy="4392464"/>
          </a:xfrm>
        </p:spPr>
        <p:txBody>
          <a:bodyPr/>
          <a:lstStyle/>
          <a:p>
            <a:pPr lvl="1"/>
            <a:r>
              <a:rPr lang="en-US" dirty="0" smtClean="0">
                <a:sym typeface="Wingdings" pitchFamily="2" charset="2"/>
              </a:rPr>
              <a:t>The isolation is effective from approx. -30°CA to 60°CA</a:t>
            </a:r>
          </a:p>
        </p:txBody>
      </p:sp>
      <p:sp>
        <p:nvSpPr>
          <p:cNvPr id="40" name="Foliennummernplatzhalter 3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DD5177-7742-4693-BD72-19615DDCA4C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6" name="Titel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dirty="0"/>
              <a:t>Simulation of isolated combustion </a:t>
            </a:r>
            <a:r>
              <a:rPr lang="en-US" dirty="0" smtClean="0"/>
              <a:t>chamber – Full load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990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20"/>
          </p:nvPr>
        </p:nvSpPr>
        <p:spPr>
          <a:xfrm>
            <a:off x="463550" y="1844824"/>
            <a:ext cx="5472113" cy="4392464"/>
          </a:xfrm>
        </p:spPr>
        <p:txBody>
          <a:bodyPr/>
          <a:lstStyle/>
          <a:p>
            <a:r>
              <a:rPr lang="en-US" b="0" dirty="0" smtClean="0">
                <a:latin typeface="+mj-lt"/>
              </a:rPr>
              <a:t>The HTM of 0.61525 has to be corrected by wall temperature influence.</a:t>
            </a:r>
          </a:p>
          <a:p>
            <a:r>
              <a:rPr lang="en-US" b="0" dirty="0" smtClean="0">
                <a:latin typeface="+mj-lt"/>
              </a:rPr>
              <a:t>As the heat loss is also proportional to temperature difference and wall temperature of the liner is approx. 100K lower than piston / 50K lower than head, … </a:t>
            </a:r>
            <a:endParaRPr lang="en-US" b="0" dirty="0">
              <a:latin typeface="+mj-lt"/>
            </a:endParaRPr>
          </a:p>
          <a:p>
            <a:endParaRPr lang="en-US" b="0" dirty="0" smtClean="0">
              <a:latin typeface="+mj-lt"/>
            </a:endParaRP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1"/>
          </p:nvPr>
        </p:nvSpPr>
        <p:spPr>
          <a:xfrm>
            <a:off x="463265" y="1412776"/>
            <a:ext cx="5472038" cy="432196"/>
          </a:xfrm>
        </p:spPr>
        <p:txBody>
          <a:bodyPr/>
          <a:lstStyle/>
          <a:p>
            <a:r>
              <a:rPr lang="en-US" dirty="0" smtClean="0"/>
              <a:t>Quantitative estimation of isolation effect</a:t>
            </a:r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2"/>
          </p:nvPr>
        </p:nvSpPr>
        <p:spPr>
          <a:xfrm>
            <a:off x="6079604" y="1412776"/>
            <a:ext cx="3385072" cy="432196"/>
          </a:xfrm>
        </p:spPr>
        <p:txBody>
          <a:bodyPr/>
          <a:lstStyle/>
          <a:p>
            <a:r>
              <a:rPr lang="en-US" dirty="0" smtClean="0"/>
              <a:t>Remarks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8"/>
          </p:nvPr>
        </p:nvSpPr>
        <p:spPr>
          <a:xfrm>
            <a:off x="6079713" y="1844825"/>
            <a:ext cx="3384962" cy="4392464"/>
          </a:xfrm>
        </p:spPr>
        <p:txBody>
          <a:bodyPr/>
          <a:lstStyle/>
          <a:p>
            <a:pPr lvl="1"/>
            <a:r>
              <a:rPr lang="en-US" dirty="0" smtClean="0">
                <a:sym typeface="Wingdings" pitchFamily="2" charset="2"/>
              </a:rPr>
              <a:t>Wall temperatures of cylinder head, liner and piston are not the same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Actually the liner wall temperature is significantly lower than the head and piston wall temperature</a:t>
            </a:r>
          </a:p>
        </p:txBody>
      </p:sp>
      <p:sp>
        <p:nvSpPr>
          <p:cNvPr id="40" name="Foliennummernplatzhalter 3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DD5177-7742-4693-BD72-19615DDCA4C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6" name="Titel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3550" y="404667"/>
            <a:ext cx="9001124" cy="648070"/>
          </a:xfrm>
        </p:spPr>
        <p:txBody>
          <a:bodyPr/>
          <a:lstStyle/>
          <a:p>
            <a:r>
              <a:rPr lang="en-US" dirty="0"/>
              <a:t>Simulation of isolated combustion </a:t>
            </a:r>
            <a:r>
              <a:rPr lang="en-US" dirty="0" smtClean="0"/>
              <a:t>chamber – Full load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23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17839&quot;&gt;&lt;version val=&quot;21119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mruColor&gt;&lt;m_vecMRU length=&quot;1&quot;&gt;&lt;elem m_fUsage=&quot;1.00000000000000000000E+000&quot;&gt;&lt;m_ppcolschidx val=&quot;0&quot;/&gt;&lt;m_rgb r=&quot;fb&quot; g=&quot;e1&quot; b=&quot;e5&quot;/&gt;&lt;/elem&gt;&lt;/m_vecMRU&gt;&lt;/m_mruColor&gt;&lt;m_mapectfillschemeMRU/&gt;&lt;m_eweekdayFirstOfWeek val=&quot;2&quot;/&gt;&lt;m_eweekdayFirstOfWorkweek val=&quot;2&quot;/&gt;&lt;m_eweekdayFirstOfWeekend val=&quot;7&quot;/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,&lt;/m_chDecimalSymbol&gt;&lt;m_nGroupingDigits val=&quot;3&quot;/&gt;&lt;m_chGroupingSymbol&gt;.&lt;/m_chGroupingSymbol&gt;&lt;m_chDecimalSymbol17909&gt;,&lt;/m_chDecimalSymbol17909&gt;&lt;m_nGroupingDigits17909 val=&quot;3&quot;/&gt;&lt;m_chGroupingSymbol17909&gt;.&lt;/m_chGroupingSymbol17909&gt;&lt;/m_precDefault&gt;&lt;/CDefaultPrec&gt;&lt;/root&gt;"/>
  <p:tag name="THINKCELLUNDODONOTDELETE" val="115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YT_w.pE02abziKOOMd_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o4LU_Lx7ESbTOwym8JMi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bZIp77dtEOqmTbNRsytm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ySa8S9uzUOiMCjv87T9E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KekMWaE40iZWqi7OpyXW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Lv2KmPFEaoRHP9bZUCI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yeYYx44y0qNjAU6dczDP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wmYXdCVIEav_lFuyyn9E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0QvT_Z1Ui2SHWsa6dYb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7tvRnzTE.y1zio.GCmI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XE85nags0KT6lQlxlveU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Y1iTLS8q0W0zlRwHbnu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4yGg8tZWkyTM2Z2J40EG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57dSV_4J0qOXLExS5yY3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ckausskgEeEQVgiVzkLd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lnM3Xlc2UiMmuxFbjbdB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TvmtwzqskqHe7Emye88J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.jbxQGFsEmIvlOkDLZPS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H6vmOf7kWPGadjb0nNR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lEtpwBSM0GAHpVwGMDIG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N26RMpST0qHLyV_BAHIX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.S73I14tEa.YB0ZFLFx9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.ry7OmJvUGalubLI87tZ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.jbxQGFsEmIvlOkDLZPS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H6vmOf7kWPGadjb0nNR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.jbxQGFsEmIvlOkDLZPS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H6vmOf7kWPGadjb0nNR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.S73I14tEa.YB0ZFLFx9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.jbxQGFsEmIvlOkDLZPS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H6vmOf7kWPGadjb0nNR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A1o4vkzFUuip.uZaOaEZ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WIgFVtrfkKxavZ_Uql4L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ii786PJYU6N87zuGhW7g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sXbc9SRCUOiCnVRjmXuh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.jbxQGFsEmIvlOkDLZPS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H6vmOf7kWPGadjb0nNR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.S73I14tEa.YB0ZFLFx9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.jbxQGFsEmIvlOkDLZPS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H6vmOf7kWPGadjb0nNR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.S73I14tEa.YB0ZFLFx9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.jbxQGFsEmIvlOkDLZPS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H6vmOf7kWPGadjb0nNR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.jbxQGFsEmIvlOkDLZPS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H6vmOf7kWPGadjb0nNR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.S73I14tEa.YB0ZFLFx9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.jbxQGFsEmIvlOkDLZPS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H6vmOf7kWPGadjb0nNR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ZMbxwN3Uavp4xTEmf_W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wyl4m027wzpfpgqgN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aGZ5K5VUC.4DFJ_9KAN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kSRnhsNe0mpQO0zAHZTT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5E8mQ9p702HX.xkZHm_7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5E8mQ9p702HX.xkZHm_7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5E8mQ9p702HX.xkZHm_7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5E8mQ9p702HX.xkZHm_7Q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5E8mQ9p702HX.xkZHm_7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5E8mQ9p702HX.xkZHm_7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5E8mQ9p702HX.xkZHm_7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5E8mQ9p702HX.xkZHm_7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5E8mQ9p702HX.xkZHm_7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5E8mQ9p702HX.xkZHm_7Q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5E8mQ9p702HX.xkZHm_7Q"/>
</p:tagLst>
</file>

<file path=ppt/theme/theme1.xml><?xml version="1.0" encoding="utf-8"?>
<a:theme xmlns:a="http://schemas.openxmlformats.org/drawingml/2006/main" name="FEV_Template">
  <a:themeElements>
    <a:clrScheme name="FEV-Designfarben">
      <a:dk1>
        <a:srgbClr val="000000"/>
      </a:dk1>
      <a:lt1>
        <a:srgbClr val="FFFFFF"/>
      </a:lt1>
      <a:dk2>
        <a:srgbClr val="DA1F3D"/>
      </a:dk2>
      <a:lt2>
        <a:srgbClr val="A9A9A9"/>
      </a:lt2>
      <a:accent1>
        <a:srgbClr val="D9D9D9"/>
      </a:accent1>
      <a:accent2>
        <a:srgbClr val="797979"/>
      </a:accent2>
      <a:accent3>
        <a:srgbClr val="FBE1E5"/>
      </a:accent3>
      <a:accent4>
        <a:srgbClr val="6E1020"/>
      </a:accent4>
      <a:accent5>
        <a:srgbClr val="009900"/>
      </a:accent5>
      <a:accent6>
        <a:srgbClr val="FFCC00"/>
      </a:accent6>
      <a:hlink>
        <a:srgbClr val="DA1F3D"/>
      </a:hlink>
      <a:folHlink>
        <a:srgbClr val="6E1020"/>
      </a:folHlink>
    </a:clrScheme>
    <a:fontScheme name="Designschriften FEV Motorentechni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bg2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4943D492E583646B979344186D5D669" ma:contentTypeVersion="24" ma:contentTypeDescription="Ein neues Dokument erstellen." ma:contentTypeScope="" ma:versionID="2ac88b64c152bc2039aad9b2857e85a7">
  <xsd:schema xmlns:xsd="http://www.w3.org/2001/XMLSchema" xmlns:xs="http://www.w3.org/2001/XMLSchema" xmlns:p="http://schemas.microsoft.com/office/2006/metadata/properties" xmlns:ns2="b456acc6-dc1d-457d-b4fb-fd2fc2caeddc" xmlns:ns3="f052e022-8853-489c-a52c-8a5e53f72d05" targetNamespace="http://schemas.microsoft.com/office/2006/metadata/properties" ma:root="true" ma:fieldsID="5ab77c4ba33f01ff9488116fbc1eb466" ns2:_="" ns3:_="">
    <xsd:import namespace="b456acc6-dc1d-457d-b4fb-fd2fc2caeddc"/>
    <xsd:import namespace="f052e022-8853-489c-a52c-8a5e53f72d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6acc6-dc1d-457d-b4fb-fd2fc2caed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8bc0505f-9040-4c2e-800a-577fa18b03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2e022-8853-489c-a52c-8a5e53f72d0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1667786-880a-42fb-942f-837a77a65780}" ma:internalName="TaxCatchAll" ma:showField="CatchAllData" ma:web="f052e022-8853-489c-a52c-8a5e53f72d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52e022-8853-489c-a52c-8a5e53f72d05" xsi:nil="true"/>
    <lcf76f155ced4ddcb4097134ff3c332f xmlns="b456acc6-dc1d-457d-b4fb-fd2fc2caed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D45E8B4-5400-497E-9E33-55659B9B8E55}"/>
</file>

<file path=customXml/itemProps2.xml><?xml version="1.0" encoding="utf-8"?>
<ds:datastoreItem xmlns:ds="http://schemas.openxmlformats.org/officeDocument/2006/customXml" ds:itemID="{264182CE-9116-46D4-820E-4E225E140196}"/>
</file>

<file path=customXml/itemProps3.xml><?xml version="1.0" encoding="utf-8"?>
<ds:datastoreItem xmlns:ds="http://schemas.openxmlformats.org/officeDocument/2006/customXml" ds:itemID="{54C6FA23-CF3D-495A-B564-47E8771F54B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1015</Words>
  <Application>Microsoft Office PowerPoint</Application>
  <PresentationFormat>35mm Slides</PresentationFormat>
  <Paragraphs>105</Paragraphs>
  <Slides>12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FEV_Template</vt:lpstr>
      <vt:lpstr>think-cell Slide</vt:lpstr>
      <vt:lpstr>Simulation of a 2.0 L  4 cylinder engine with an isolated combustion chamber</vt:lpstr>
      <vt:lpstr>GT-Power simulation</vt:lpstr>
      <vt:lpstr>Simulation of isolated combustion chamber</vt:lpstr>
      <vt:lpstr>Simulation of isolated combustion chamber – Full load</vt:lpstr>
      <vt:lpstr>Simulation of isolated combustion chamber – Full load</vt:lpstr>
      <vt:lpstr>Simulation of isolated combustion chamber – Full load</vt:lpstr>
      <vt:lpstr>Simulation of isolated combustion chamber – Full load</vt:lpstr>
      <vt:lpstr>Simulation of isolated combustion chamber – Full load</vt:lpstr>
      <vt:lpstr>Simulation of isolated combustion chamber – Full load</vt:lpstr>
      <vt:lpstr>Simulation of isolated combustion chamber – Full load</vt:lpstr>
      <vt:lpstr>Simulation of isolated combustion chamber – Full load</vt:lpstr>
      <vt:lpstr>Simulation of isolated combustion chamber – Full load</vt:lpstr>
    </vt:vector>
  </TitlesOfParts>
  <Company>FEV GmbH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Arial 28pt, bold, black,  should not exceed 3 lines</dc:title>
  <dc:creator>Houben, Johannes</dc:creator>
  <cp:lastModifiedBy>Bey, Ralf</cp:lastModifiedBy>
  <cp:revision>306</cp:revision>
  <cp:lastPrinted>2012-01-25T00:01:36Z</cp:lastPrinted>
  <dcterms:created xsi:type="dcterms:W3CDTF">2013-06-28T13:47:02Z</dcterms:created>
  <dcterms:modified xsi:type="dcterms:W3CDTF">2015-10-23T13:06:07Z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372826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D5.0.6</vt:lpwstr>
  </property>
  <property fmtid="{D5CDD505-2E9C-101B-9397-08002B2CF9AE}" pid="5" name="ContentTypeId">
    <vt:lpwstr>0x010100A4943D492E583646B979344186D5D669</vt:lpwstr>
  </property>
</Properties>
</file>